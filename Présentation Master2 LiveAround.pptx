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68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40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Bonjour,</a:t>
            </a:r>
          </a:p>
          <a:p>
            <a:r>
              <a:rPr lang="en-GB" dirty="0" err="1"/>
              <a:t>Aujourd’hui</a:t>
            </a:r>
            <a:r>
              <a:rPr lang="en-GB" dirty="0"/>
              <a:t>, je </a:t>
            </a:r>
            <a:r>
              <a:rPr lang="en-GB" dirty="0" err="1"/>
              <a:t>vais</a:t>
            </a:r>
            <a:r>
              <a:rPr lang="en-GB" dirty="0"/>
              <a:t> vous </a:t>
            </a:r>
            <a:r>
              <a:rPr lang="en-GB" dirty="0" err="1"/>
              <a:t>présenter</a:t>
            </a:r>
            <a:r>
              <a:rPr lang="en-GB" dirty="0"/>
              <a:t> le </a:t>
            </a:r>
            <a:r>
              <a:rPr lang="en-GB" dirty="0" err="1"/>
              <a:t>cadrage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 d’un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d’application</a:t>
            </a:r>
            <a:r>
              <a:rPr lang="en-GB" dirty="0"/>
              <a:t> mobile </a:t>
            </a:r>
            <a:r>
              <a:rPr lang="en-GB" dirty="0" err="1"/>
              <a:t>nommé</a:t>
            </a:r>
            <a:r>
              <a:rPr lang="en-GB" dirty="0"/>
              <a:t> </a:t>
            </a:r>
            <a:r>
              <a:rPr lang="en-GB" b="1" dirty="0" err="1"/>
              <a:t>LiveAround</a:t>
            </a:r>
            <a:r>
              <a:rPr lang="en-GB" dirty="0"/>
              <a:t>.</a:t>
            </a:r>
          </a:p>
          <a:p>
            <a:r>
              <a:rPr lang="en-GB" dirty="0"/>
              <a:t>Ce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répond</a:t>
            </a:r>
            <a:r>
              <a:rPr lang="en-GB" dirty="0"/>
              <a:t> à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problématique</a:t>
            </a:r>
            <a:r>
              <a:rPr lang="en-GB" dirty="0"/>
              <a:t> simple : </a:t>
            </a:r>
            <a:r>
              <a:rPr lang="en-GB" dirty="0" err="1"/>
              <a:t>permettre</a:t>
            </a:r>
            <a:r>
              <a:rPr lang="en-GB" dirty="0"/>
              <a:t> aux </a:t>
            </a:r>
            <a:r>
              <a:rPr lang="en-GB" dirty="0" err="1"/>
              <a:t>utilisateurs</a:t>
            </a:r>
            <a:r>
              <a:rPr lang="en-GB" dirty="0"/>
              <a:t> d’être </a:t>
            </a:r>
            <a:r>
              <a:rPr lang="en-GB" dirty="0" err="1"/>
              <a:t>informés</a:t>
            </a:r>
            <a:r>
              <a:rPr lang="en-GB" dirty="0"/>
              <a:t> </a:t>
            </a:r>
            <a:r>
              <a:rPr lang="en-GB" dirty="0" err="1"/>
              <a:t>facilement</a:t>
            </a:r>
            <a:r>
              <a:rPr lang="en-GB" dirty="0"/>
              <a:t> des concerts qui se </a:t>
            </a:r>
            <a:r>
              <a:rPr lang="en-GB" dirty="0" err="1"/>
              <a:t>déroulent</a:t>
            </a:r>
            <a:r>
              <a:rPr lang="en-GB" dirty="0"/>
              <a:t> </a:t>
            </a:r>
            <a:r>
              <a:rPr lang="en-GB" dirty="0" err="1"/>
              <a:t>autour</a:t>
            </a:r>
            <a:r>
              <a:rPr lang="en-GB" dirty="0"/>
              <a:t> </a:t>
            </a:r>
            <a:r>
              <a:rPr lang="en-GB" dirty="0" err="1"/>
              <a:t>d’eux</a:t>
            </a:r>
            <a:r>
              <a:rPr lang="en-GB" dirty="0"/>
              <a:t>, peu </a:t>
            </a:r>
            <a:r>
              <a:rPr lang="en-GB" dirty="0" err="1"/>
              <a:t>importe</a:t>
            </a:r>
            <a:r>
              <a:rPr lang="en-GB" dirty="0"/>
              <a:t> </a:t>
            </a:r>
            <a:r>
              <a:rPr lang="en-GB" dirty="0" err="1"/>
              <a:t>leur</a:t>
            </a:r>
            <a:r>
              <a:rPr lang="en-GB" dirty="0"/>
              <a:t> localisation </a:t>
            </a:r>
            <a:r>
              <a:rPr lang="en-GB" dirty="0" err="1"/>
              <a:t>en</a:t>
            </a:r>
            <a:r>
              <a:rPr lang="en-GB" dirty="0"/>
              <a:t> France.</a:t>
            </a:r>
          </a:p>
          <a:p>
            <a:r>
              <a:rPr lang="en-GB" dirty="0"/>
              <a:t>Le client </a:t>
            </a:r>
            <a:r>
              <a:rPr lang="en-GB" dirty="0" err="1"/>
              <a:t>fictif</a:t>
            </a:r>
            <a:r>
              <a:rPr lang="en-GB" dirty="0"/>
              <a:t> 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projet</a:t>
            </a:r>
            <a:r>
              <a:rPr lang="en-GB" dirty="0"/>
              <a:t> est </a:t>
            </a:r>
            <a:r>
              <a:rPr lang="en-GB" b="1" dirty="0" err="1"/>
              <a:t>PulseEvent</a:t>
            </a:r>
            <a:r>
              <a:rPr lang="en-GB" b="1" dirty="0"/>
              <a:t> SAS</a:t>
            </a:r>
            <a:r>
              <a:rPr lang="en-GB" dirty="0"/>
              <a:t>, </a:t>
            </a:r>
            <a:r>
              <a:rPr lang="en-GB" dirty="0" err="1"/>
              <a:t>une</a:t>
            </a:r>
            <a:r>
              <a:rPr lang="en-GB" dirty="0"/>
              <a:t> startup </a:t>
            </a:r>
            <a:r>
              <a:rPr lang="en-GB" dirty="0" err="1"/>
              <a:t>culturelle</a:t>
            </a:r>
            <a:r>
              <a:rPr lang="en-GB" dirty="0"/>
              <a:t> lyonnaise qui </a:t>
            </a:r>
            <a:r>
              <a:rPr lang="en-GB" dirty="0" err="1"/>
              <a:t>souhaite</a:t>
            </a:r>
            <a:r>
              <a:rPr lang="en-GB" dirty="0"/>
              <a:t> </a:t>
            </a:r>
            <a:r>
              <a:rPr lang="en-GB" dirty="0" err="1"/>
              <a:t>développer</a:t>
            </a:r>
            <a:r>
              <a:rPr lang="en-GB" dirty="0"/>
              <a:t> un service à ambition </a:t>
            </a:r>
            <a:r>
              <a:rPr lang="en-GB" dirty="0" err="1"/>
              <a:t>nationale</a:t>
            </a:r>
            <a:r>
              <a:rPr lang="en-GB" dirty="0"/>
              <a:t>. </a:t>
            </a:r>
            <a:r>
              <a:rPr lang="en-GB" dirty="0" err="1"/>
              <a:t>L’objectif</a:t>
            </a:r>
            <a:r>
              <a:rPr lang="en-GB" dirty="0"/>
              <a:t> </a:t>
            </a:r>
            <a:r>
              <a:rPr lang="en-GB" dirty="0" err="1"/>
              <a:t>n’est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pas </a:t>
            </a:r>
            <a:r>
              <a:rPr lang="en-GB" dirty="0" err="1"/>
              <a:t>seulement</a:t>
            </a:r>
            <a:r>
              <a:rPr lang="en-GB" dirty="0"/>
              <a:t> de </a:t>
            </a:r>
            <a:r>
              <a:rPr lang="en-GB" dirty="0" err="1"/>
              <a:t>créer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application locale </a:t>
            </a:r>
            <a:r>
              <a:rPr lang="en-GB" dirty="0" err="1"/>
              <a:t>centrée</a:t>
            </a:r>
            <a:r>
              <a:rPr lang="en-GB" dirty="0"/>
              <a:t> sur Lyon,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solution utilisable </a:t>
            </a:r>
            <a:r>
              <a:rPr lang="en-GB" dirty="0" err="1"/>
              <a:t>partout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France, </a:t>
            </a:r>
            <a:r>
              <a:rPr lang="en-GB" dirty="0" err="1"/>
              <a:t>notamment</a:t>
            </a:r>
            <a:r>
              <a:rPr lang="en-GB" dirty="0"/>
              <a:t> par des </a:t>
            </a:r>
            <a:r>
              <a:rPr lang="en-GB" dirty="0" err="1"/>
              <a:t>utilisateurs</a:t>
            </a:r>
            <a:r>
              <a:rPr lang="en-GB" dirty="0"/>
              <a:t> </a:t>
            </a:r>
            <a:r>
              <a:rPr lang="en-GB" dirty="0" err="1"/>
              <a:t>pouvant</a:t>
            </a:r>
            <a:r>
              <a:rPr lang="en-GB" dirty="0"/>
              <a:t> se </a:t>
            </a:r>
            <a:r>
              <a:rPr lang="en-GB" dirty="0" err="1"/>
              <a:t>déplacer</a:t>
            </a:r>
            <a:r>
              <a:rPr lang="en-GB" dirty="0"/>
              <a:t> dans </a:t>
            </a:r>
            <a:r>
              <a:rPr lang="en-GB" dirty="0" err="1"/>
              <a:t>d’autres</a:t>
            </a:r>
            <a:r>
              <a:rPr lang="en-GB" dirty="0"/>
              <a:t> villes </a:t>
            </a:r>
            <a:r>
              <a:rPr lang="en-GB" dirty="0" err="1"/>
              <a:t>ou</a:t>
            </a:r>
            <a:r>
              <a:rPr lang="en-GB" dirty="0"/>
              <a:t> départements.</a:t>
            </a:r>
          </a:p>
          <a:p>
            <a:r>
              <a:rPr lang="en-GB" dirty="0"/>
              <a:t>Cette </a:t>
            </a:r>
            <a:r>
              <a:rPr lang="en-GB" dirty="0" err="1"/>
              <a:t>présentation</a:t>
            </a:r>
            <a:r>
              <a:rPr lang="en-GB" dirty="0"/>
              <a:t>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aborder</a:t>
            </a:r>
            <a:r>
              <a:rPr lang="en-GB" dirty="0"/>
              <a:t> </a:t>
            </a:r>
            <a:r>
              <a:rPr lang="en-GB" dirty="0" err="1"/>
              <a:t>l’ensemble</a:t>
            </a:r>
            <a:r>
              <a:rPr lang="en-GB" dirty="0"/>
              <a:t> du </a:t>
            </a:r>
            <a:r>
              <a:rPr lang="en-GB" dirty="0" err="1"/>
              <a:t>cadrage</a:t>
            </a:r>
            <a:r>
              <a:rPr lang="en-GB" dirty="0"/>
              <a:t> </a:t>
            </a:r>
            <a:r>
              <a:rPr lang="en-GB" dirty="0" err="1"/>
              <a:t>projet</a:t>
            </a:r>
            <a:r>
              <a:rPr lang="en-GB" dirty="0"/>
              <a:t> : les parties </a:t>
            </a:r>
            <a:r>
              <a:rPr lang="en-GB" dirty="0" err="1"/>
              <a:t>prenantes</a:t>
            </a:r>
            <a:r>
              <a:rPr lang="en-GB" dirty="0"/>
              <a:t>, les </a:t>
            </a:r>
            <a:r>
              <a:rPr lang="en-GB" dirty="0" err="1"/>
              <a:t>objectifs</a:t>
            </a:r>
            <a:r>
              <a:rPr lang="en-GB" dirty="0"/>
              <a:t>, les </a:t>
            </a:r>
            <a:r>
              <a:rPr lang="en-GB" dirty="0" err="1"/>
              <a:t>opportunités</a:t>
            </a:r>
            <a:r>
              <a:rPr lang="en-GB" dirty="0"/>
              <a:t>, les </a:t>
            </a:r>
            <a:r>
              <a:rPr lang="en-GB" dirty="0" err="1"/>
              <a:t>risques</a:t>
            </a:r>
            <a:r>
              <a:rPr lang="en-GB" dirty="0"/>
              <a:t>, </a:t>
            </a:r>
            <a:r>
              <a:rPr lang="en-GB" dirty="0" err="1"/>
              <a:t>l’étude</a:t>
            </a:r>
            <a:r>
              <a:rPr lang="en-GB" dirty="0"/>
              <a:t> technique, </a:t>
            </a:r>
            <a:r>
              <a:rPr lang="en-GB" dirty="0" err="1"/>
              <a:t>l’architecture</a:t>
            </a:r>
            <a:r>
              <a:rPr lang="en-GB" dirty="0"/>
              <a:t> </a:t>
            </a:r>
            <a:r>
              <a:rPr lang="en-GB" dirty="0" err="1"/>
              <a:t>proposée</a:t>
            </a:r>
            <a:r>
              <a:rPr lang="en-GB" dirty="0"/>
              <a:t>, le budget, </a:t>
            </a:r>
            <a:r>
              <a:rPr lang="en-GB" dirty="0" err="1"/>
              <a:t>ainsi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les </a:t>
            </a:r>
            <a:r>
              <a:rPr lang="en-GB" dirty="0" err="1"/>
              <a:t>préconisations</a:t>
            </a:r>
            <a:r>
              <a:rPr lang="en-GB" dirty="0"/>
              <a:t> finales.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point de </a:t>
            </a:r>
            <a:r>
              <a:rPr lang="en-GB" dirty="0" err="1"/>
              <a:t>départ</a:t>
            </a:r>
            <a:r>
              <a:rPr lang="en-GB" dirty="0"/>
              <a:t> du </a:t>
            </a:r>
            <a:r>
              <a:rPr lang="en-GB" dirty="0" err="1"/>
              <a:t>projet</a:t>
            </a:r>
            <a:r>
              <a:rPr lang="en-GB" dirty="0"/>
              <a:t> est le constat </a:t>
            </a:r>
            <a:r>
              <a:rPr lang="en-GB" dirty="0" err="1"/>
              <a:t>suivant</a:t>
            </a:r>
            <a:r>
              <a:rPr lang="en-GB" dirty="0"/>
              <a:t> : il </a:t>
            </a:r>
            <a:r>
              <a:rPr lang="en-GB" dirty="0" err="1"/>
              <a:t>existe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offre</a:t>
            </a:r>
            <a:r>
              <a:rPr lang="en-GB" dirty="0"/>
              <a:t> musicale très riche </a:t>
            </a:r>
            <a:r>
              <a:rPr lang="en-GB" dirty="0" err="1"/>
              <a:t>en</a:t>
            </a:r>
            <a:r>
              <a:rPr lang="en-GB" dirty="0"/>
              <a:t> France,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offre</a:t>
            </a:r>
            <a:r>
              <a:rPr lang="en-GB" dirty="0"/>
              <a:t> est </a:t>
            </a:r>
            <a:r>
              <a:rPr lang="en-GB" dirty="0" err="1"/>
              <a:t>souvent</a:t>
            </a:r>
            <a:r>
              <a:rPr lang="en-GB" dirty="0"/>
              <a:t> </a:t>
            </a:r>
            <a:r>
              <a:rPr lang="en-GB" dirty="0" err="1"/>
              <a:t>dispersée</a:t>
            </a:r>
            <a:r>
              <a:rPr lang="en-GB" dirty="0"/>
              <a:t>.</a:t>
            </a:r>
          </a:p>
          <a:p>
            <a:r>
              <a:rPr lang="en-GB" dirty="0"/>
              <a:t>Un </a:t>
            </a:r>
            <a:r>
              <a:rPr lang="en-GB" dirty="0" err="1"/>
              <a:t>utilisateur</a:t>
            </a:r>
            <a:r>
              <a:rPr lang="en-GB" dirty="0"/>
              <a:t> qui </a:t>
            </a:r>
            <a:r>
              <a:rPr lang="en-GB" dirty="0" err="1"/>
              <a:t>cherche</a:t>
            </a:r>
            <a:r>
              <a:rPr lang="en-GB" dirty="0"/>
              <a:t> un concert doit </a:t>
            </a:r>
            <a:r>
              <a:rPr lang="en-GB" dirty="0" err="1"/>
              <a:t>parfois</a:t>
            </a:r>
            <a:r>
              <a:rPr lang="en-GB" dirty="0"/>
              <a:t> consulter </a:t>
            </a:r>
            <a:r>
              <a:rPr lang="en-GB" dirty="0" err="1"/>
              <a:t>plusieurs</a:t>
            </a:r>
            <a:r>
              <a:rPr lang="en-GB" dirty="0"/>
              <a:t> sources </a:t>
            </a:r>
            <a:r>
              <a:rPr lang="en-GB" dirty="0" err="1"/>
              <a:t>différentes</a:t>
            </a:r>
            <a:r>
              <a:rPr lang="en-GB" dirty="0"/>
              <a:t> : les sites de </a:t>
            </a:r>
            <a:r>
              <a:rPr lang="en-GB" dirty="0" err="1"/>
              <a:t>billetterie</a:t>
            </a:r>
            <a:r>
              <a:rPr lang="en-GB" dirty="0"/>
              <a:t>, les réseaux </a:t>
            </a:r>
            <a:r>
              <a:rPr lang="en-GB" dirty="0" err="1"/>
              <a:t>sociaux</a:t>
            </a:r>
            <a:r>
              <a:rPr lang="en-GB" dirty="0"/>
              <a:t>, les sites des salles, les </a:t>
            </a:r>
            <a:r>
              <a:rPr lang="en-GB" dirty="0" err="1"/>
              <a:t>plateformes</a:t>
            </a:r>
            <a:r>
              <a:rPr lang="en-GB" dirty="0"/>
              <a:t> </a:t>
            </a:r>
            <a:r>
              <a:rPr lang="en-GB" dirty="0" err="1"/>
              <a:t>spécialisées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encore les agendas </a:t>
            </a:r>
            <a:r>
              <a:rPr lang="en-GB" dirty="0" err="1"/>
              <a:t>culturels</a:t>
            </a:r>
            <a:r>
              <a:rPr lang="en-GB" dirty="0"/>
              <a:t> </a:t>
            </a:r>
            <a:r>
              <a:rPr lang="en-GB" dirty="0" err="1"/>
              <a:t>locaux</a:t>
            </a:r>
            <a:r>
              <a:rPr lang="en-GB" dirty="0"/>
              <a:t>.</a:t>
            </a:r>
          </a:p>
          <a:p>
            <a:r>
              <a:rPr lang="en-GB" dirty="0"/>
              <a:t>Cela </a:t>
            </a:r>
            <a:r>
              <a:rPr lang="en-GB" dirty="0" err="1"/>
              <a:t>crée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perte</a:t>
            </a:r>
            <a:r>
              <a:rPr lang="en-GB" dirty="0"/>
              <a:t> </a:t>
            </a:r>
            <a:r>
              <a:rPr lang="en-GB" dirty="0" err="1"/>
              <a:t>d’information</a:t>
            </a:r>
            <a:r>
              <a:rPr lang="en-GB" dirty="0"/>
              <a:t>, surtout pour les petits concerts, les </a:t>
            </a:r>
            <a:r>
              <a:rPr lang="en-GB" dirty="0" err="1"/>
              <a:t>scènes</a:t>
            </a:r>
            <a:r>
              <a:rPr lang="en-GB" dirty="0"/>
              <a:t> locales </a:t>
            </a:r>
            <a:r>
              <a:rPr lang="en-GB" dirty="0" err="1"/>
              <a:t>ou</a:t>
            </a:r>
            <a:r>
              <a:rPr lang="en-GB" dirty="0"/>
              <a:t> les </a:t>
            </a:r>
            <a:r>
              <a:rPr lang="en-GB" dirty="0" err="1"/>
              <a:t>événements</a:t>
            </a:r>
            <a:r>
              <a:rPr lang="en-GB" dirty="0"/>
              <a:t> </a:t>
            </a:r>
            <a:r>
              <a:rPr lang="en-GB" dirty="0" err="1"/>
              <a:t>indépendants</a:t>
            </a:r>
            <a:r>
              <a:rPr lang="en-GB" dirty="0"/>
              <a:t>.</a:t>
            </a:r>
          </a:p>
          <a:p>
            <a:r>
              <a:rPr lang="en-GB" dirty="0" err="1"/>
              <a:t>PulseEvent</a:t>
            </a:r>
            <a:r>
              <a:rPr lang="en-GB" dirty="0"/>
              <a:t> SAS </a:t>
            </a:r>
            <a:r>
              <a:rPr lang="en-GB" dirty="0" err="1"/>
              <a:t>souhaite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créer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application qui </a:t>
            </a:r>
            <a:r>
              <a:rPr lang="en-GB" dirty="0" err="1"/>
              <a:t>facilite</a:t>
            </a:r>
            <a:r>
              <a:rPr lang="en-GB" dirty="0"/>
              <a:t>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découverte</a:t>
            </a:r>
            <a:r>
              <a:rPr lang="en-GB" dirty="0"/>
              <a:t>.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l’entreprise</a:t>
            </a:r>
            <a:r>
              <a:rPr lang="en-GB" dirty="0"/>
              <a:t> est </a:t>
            </a:r>
            <a:r>
              <a:rPr lang="en-GB" dirty="0" err="1"/>
              <a:t>basée</a:t>
            </a:r>
            <a:r>
              <a:rPr lang="en-GB" dirty="0"/>
              <a:t> à Lyon, </a:t>
            </a:r>
            <a:r>
              <a:rPr lang="en-GB" dirty="0" err="1"/>
              <a:t>l’ambition</a:t>
            </a:r>
            <a:r>
              <a:rPr lang="en-GB" dirty="0"/>
              <a:t> est </a:t>
            </a:r>
            <a:r>
              <a:rPr lang="en-GB" dirty="0" err="1"/>
              <a:t>nationale</a:t>
            </a:r>
            <a:r>
              <a:rPr lang="en-GB" dirty="0"/>
              <a:t>, car un </a:t>
            </a:r>
            <a:r>
              <a:rPr lang="en-GB" dirty="0" err="1"/>
              <a:t>utilisateur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très bien </a:t>
            </a:r>
            <a:r>
              <a:rPr lang="en-GB" dirty="0" err="1"/>
              <a:t>habiter</a:t>
            </a:r>
            <a:r>
              <a:rPr lang="en-GB" dirty="0"/>
              <a:t> près </a:t>
            </a:r>
            <a:r>
              <a:rPr lang="en-GB" dirty="0" err="1"/>
              <a:t>d’une</a:t>
            </a:r>
            <a:r>
              <a:rPr lang="en-GB" dirty="0"/>
              <a:t> </a:t>
            </a:r>
            <a:r>
              <a:rPr lang="en-GB" dirty="0" err="1"/>
              <a:t>frontière</a:t>
            </a:r>
            <a:r>
              <a:rPr lang="en-GB" dirty="0"/>
              <a:t> </a:t>
            </a:r>
            <a:r>
              <a:rPr lang="en-GB" dirty="0" err="1"/>
              <a:t>départementale</a:t>
            </a:r>
            <a:r>
              <a:rPr lang="en-GB" dirty="0"/>
              <a:t>, se </a:t>
            </a:r>
            <a:r>
              <a:rPr lang="en-GB" dirty="0" err="1"/>
              <a:t>déplacer</a:t>
            </a:r>
            <a:r>
              <a:rPr lang="en-GB" dirty="0"/>
              <a:t> </a:t>
            </a:r>
            <a:r>
              <a:rPr lang="en-GB" dirty="0" err="1"/>
              <a:t>régulièrement</a:t>
            </a:r>
            <a:r>
              <a:rPr lang="en-GB" dirty="0"/>
              <a:t>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chercher</a:t>
            </a:r>
            <a:r>
              <a:rPr lang="en-GB" dirty="0"/>
              <a:t> des concerts dans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autre</a:t>
            </a:r>
            <a:r>
              <a:rPr lang="en-GB" dirty="0"/>
              <a:t> </a:t>
            </a:r>
            <a:r>
              <a:rPr lang="en-GB" dirty="0" err="1"/>
              <a:t>région</a:t>
            </a:r>
            <a:r>
              <a:rPr lang="en-GB" dirty="0"/>
              <a:t>.</a:t>
            </a:r>
          </a:p>
          <a:p>
            <a:r>
              <a:rPr lang="en-GB" dirty="0"/>
              <a:t>La </a:t>
            </a:r>
            <a:r>
              <a:rPr lang="en-GB" dirty="0" err="1"/>
              <a:t>problématique</a:t>
            </a:r>
            <a:r>
              <a:rPr lang="en-GB" dirty="0"/>
              <a:t> </a:t>
            </a:r>
            <a:r>
              <a:rPr lang="en-GB" dirty="0" err="1"/>
              <a:t>retenue</a:t>
            </a:r>
            <a:r>
              <a:rPr lang="en-GB" dirty="0"/>
              <a:t> est </a:t>
            </a:r>
            <a:r>
              <a:rPr lang="en-GB" dirty="0" err="1"/>
              <a:t>donc</a:t>
            </a:r>
            <a:r>
              <a:rPr lang="en-GB" dirty="0"/>
              <a:t> la </a:t>
            </a:r>
            <a:r>
              <a:rPr lang="en-GB" dirty="0" err="1"/>
              <a:t>suivante</a:t>
            </a:r>
            <a:r>
              <a:rPr lang="en-GB" dirty="0"/>
              <a:t> :</a:t>
            </a:r>
          </a:p>
          <a:p>
            <a:r>
              <a:rPr lang="en-GB" b="1" dirty="0"/>
              <a:t>Comment </a:t>
            </a:r>
            <a:r>
              <a:rPr lang="en-GB" b="1" dirty="0" err="1"/>
              <a:t>concevoir</a:t>
            </a:r>
            <a:r>
              <a:rPr lang="en-GB" b="1" dirty="0"/>
              <a:t> </a:t>
            </a:r>
            <a:r>
              <a:rPr lang="en-GB" b="1" dirty="0" err="1"/>
              <a:t>une</a:t>
            </a:r>
            <a:r>
              <a:rPr lang="en-GB" b="1" dirty="0"/>
              <a:t> application mobile </a:t>
            </a:r>
            <a:r>
              <a:rPr lang="en-GB" b="1" dirty="0" err="1"/>
              <a:t>fiable</a:t>
            </a:r>
            <a:r>
              <a:rPr lang="en-GB" b="1" dirty="0"/>
              <a:t>, </a:t>
            </a:r>
            <a:r>
              <a:rPr lang="en-GB" b="1" dirty="0" err="1"/>
              <a:t>nationale</a:t>
            </a:r>
            <a:r>
              <a:rPr lang="en-GB" b="1" dirty="0"/>
              <a:t> et </a:t>
            </a:r>
            <a:r>
              <a:rPr lang="en-GB" b="1" dirty="0" err="1"/>
              <a:t>personnalisée</a:t>
            </a:r>
            <a:r>
              <a:rPr lang="en-GB" b="1" dirty="0"/>
              <a:t> pour informer les </a:t>
            </a:r>
            <a:r>
              <a:rPr lang="en-GB" b="1" dirty="0" err="1"/>
              <a:t>utilisateurs</a:t>
            </a:r>
            <a:r>
              <a:rPr lang="en-GB" b="1" dirty="0"/>
              <a:t> des concerts </a:t>
            </a:r>
            <a:r>
              <a:rPr lang="en-GB" b="1" dirty="0" err="1"/>
              <a:t>proches</a:t>
            </a:r>
            <a:r>
              <a:rPr lang="en-GB" b="1" dirty="0"/>
              <a:t> </a:t>
            </a:r>
            <a:r>
              <a:rPr lang="en-GB" b="1" dirty="0" err="1"/>
              <a:t>d’eux</a:t>
            </a:r>
            <a:r>
              <a:rPr lang="en-GB" b="1" dirty="0"/>
              <a:t>, tout </a:t>
            </a:r>
            <a:r>
              <a:rPr lang="en-GB" b="1" dirty="0" err="1"/>
              <a:t>en</a:t>
            </a:r>
            <a:r>
              <a:rPr lang="en-GB" b="1" dirty="0"/>
              <a:t> </a:t>
            </a:r>
            <a:r>
              <a:rPr lang="en-GB" b="1" dirty="0" err="1"/>
              <a:t>maîtrisant</a:t>
            </a:r>
            <a:r>
              <a:rPr lang="en-GB" b="1" dirty="0"/>
              <a:t> la </a:t>
            </a:r>
            <a:r>
              <a:rPr lang="en-GB" b="1" dirty="0" err="1"/>
              <a:t>qualité</a:t>
            </a:r>
            <a:r>
              <a:rPr lang="en-GB" b="1" dirty="0"/>
              <a:t> des données, la </a:t>
            </a:r>
            <a:r>
              <a:rPr lang="en-GB" b="1" dirty="0" err="1"/>
              <a:t>géolocalisation</a:t>
            </a:r>
            <a:r>
              <a:rPr lang="en-GB" b="1" dirty="0"/>
              <a:t> et la </a:t>
            </a:r>
            <a:r>
              <a:rPr lang="en-GB" b="1" dirty="0" err="1"/>
              <a:t>viabilité</a:t>
            </a:r>
            <a:r>
              <a:rPr lang="en-GB" b="1" dirty="0"/>
              <a:t> économique ?</a:t>
            </a:r>
            <a:endParaRPr lang="en-GB" dirty="0"/>
          </a:p>
          <a:p>
            <a:r>
              <a:rPr lang="en-GB" dirty="0"/>
              <a:t>Cette </a:t>
            </a:r>
            <a:r>
              <a:rPr lang="en-GB" dirty="0" err="1"/>
              <a:t>problématique</a:t>
            </a:r>
            <a:r>
              <a:rPr lang="en-GB" dirty="0"/>
              <a:t> met </a:t>
            </a:r>
            <a:r>
              <a:rPr lang="en-GB" dirty="0" err="1"/>
              <a:t>en</a:t>
            </a:r>
            <a:r>
              <a:rPr lang="en-GB" dirty="0"/>
              <a:t> avant quatre dimensions </a:t>
            </a:r>
            <a:r>
              <a:rPr lang="en-GB" dirty="0" err="1"/>
              <a:t>importantes</a:t>
            </a:r>
            <a:r>
              <a:rPr lang="en-GB" dirty="0"/>
              <a:t> : la couverture </a:t>
            </a:r>
            <a:r>
              <a:rPr lang="en-GB" dirty="0" err="1"/>
              <a:t>nationale</a:t>
            </a:r>
            <a:r>
              <a:rPr lang="en-GB" dirty="0"/>
              <a:t>, la </a:t>
            </a:r>
            <a:r>
              <a:rPr lang="en-GB" dirty="0" err="1"/>
              <a:t>proximité</a:t>
            </a:r>
            <a:r>
              <a:rPr lang="en-GB" dirty="0"/>
              <a:t> </a:t>
            </a:r>
            <a:r>
              <a:rPr lang="en-GB" dirty="0" err="1"/>
              <a:t>réelle</a:t>
            </a:r>
            <a:r>
              <a:rPr lang="en-GB" dirty="0"/>
              <a:t>, la </a:t>
            </a:r>
            <a:r>
              <a:rPr lang="en-GB" dirty="0" err="1"/>
              <a:t>fiabilité</a:t>
            </a:r>
            <a:r>
              <a:rPr lang="en-GB" dirty="0"/>
              <a:t> des données et la </a:t>
            </a:r>
            <a:r>
              <a:rPr lang="en-GB" dirty="0" err="1"/>
              <a:t>conformité</a:t>
            </a:r>
            <a:r>
              <a:rPr lang="en-GB" dirty="0"/>
              <a:t> RGPD.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demande</a:t>
            </a:r>
            <a:r>
              <a:rPr lang="en-GB" dirty="0"/>
              <a:t> </a:t>
            </a:r>
            <a:r>
              <a:rPr lang="en-GB" dirty="0" err="1"/>
              <a:t>exprimée</a:t>
            </a:r>
            <a:r>
              <a:rPr lang="en-GB" dirty="0"/>
              <a:t> par le client </a:t>
            </a:r>
            <a:r>
              <a:rPr lang="en-GB" dirty="0" err="1"/>
              <a:t>paraît</a:t>
            </a:r>
            <a:r>
              <a:rPr lang="en-GB" dirty="0"/>
              <a:t> </a:t>
            </a:r>
            <a:r>
              <a:rPr lang="en-GB" dirty="0" err="1"/>
              <a:t>d’abord</a:t>
            </a:r>
            <a:r>
              <a:rPr lang="en-GB" dirty="0"/>
              <a:t> </a:t>
            </a:r>
            <a:r>
              <a:rPr lang="en-GB" dirty="0" err="1"/>
              <a:t>assez</a:t>
            </a:r>
            <a:r>
              <a:rPr lang="en-GB" dirty="0"/>
              <a:t> simple : </a:t>
            </a:r>
            <a:r>
              <a:rPr lang="en-GB" dirty="0" err="1"/>
              <a:t>permettre</a:t>
            </a:r>
            <a:r>
              <a:rPr lang="en-GB" dirty="0"/>
              <a:t> aux </a:t>
            </a:r>
            <a:r>
              <a:rPr lang="en-GB" dirty="0" err="1"/>
              <a:t>utilisateurs</a:t>
            </a:r>
            <a:r>
              <a:rPr lang="en-GB" dirty="0"/>
              <a:t> de voir les concerts </a:t>
            </a:r>
            <a:r>
              <a:rPr lang="en-GB" dirty="0" err="1"/>
              <a:t>proches</a:t>
            </a:r>
            <a:r>
              <a:rPr lang="en-GB" dirty="0"/>
              <a:t>, </a:t>
            </a:r>
            <a:r>
              <a:rPr lang="en-GB" dirty="0" err="1"/>
              <a:t>filtrer</a:t>
            </a:r>
            <a:r>
              <a:rPr lang="en-GB" dirty="0"/>
              <a:t> par date, genre </a:t>
            </a:r>
            <a:r>
              <a:rPr lang="en-GB" dirty="0" err="1"/>
              <a:t>ou</a:t>
            </a:r>
            <a:r>
              <a:rPr lang="en-GB" dirty="0"/>
              <a:t> distance, </a:t>
            </a:r>
            <a:r>
              <a:rPr lang="en-GB" dirty="0" err="1"/>
              <a:t>recevoir</a:t>
            </a:r>
            <a:r>
              <a:rPr lang="en-GB" dirty="0"/>
              <a:t> des </a:t>
            </a:r>
            <a:r>
              <a:rPr lang="en-GB" dirty="0" err="1"/>
              <a:t>alertes</a:t>
            </a:r>
            <a:r>
              <a:rPr lang="en-GB" dirty="0"/>
              <a:t> et </a:t>
            </a:r>
            <a:r>
              <a:rPr lang="en-GB" dirty="0" err="1"/>
              <a:t>accéder</a:t>
            </a:r>
            <a:r>
              <a:rPr lang="en-GB" dirty="0"/>
              <a:t> à la </a:t>
            </a:r>
            <a:r>
              <a:rPr lang="en-GB" dirty="0" err="1"/>
              <a:t>billetterie</a:t>
            </a:r>
            <a:r>
              <a:rPr lang="en-GB" dirty="0"/>
              <a:t>.</a:t>
            </a:r>
          </a:p>
          <a:p>
            <a:r>
              <a:rPr lang="en-GB" dirty="0"/>
              <a:t>Mais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analysant</a:t>
            </a:r>
            <a:r>
              <a:rPr lang="en-GB" dirty="0"/>
              <a:t> plus </a:t>
            </a:r>
            <a:r>
              <a:rPr lang="en-GB" dirty="0" err="1"/>
              <a:t>précisément</a:t>
            </a:r>
            <a:r>
              <a:rPr lang="en-GB" dirty="0"/>
              <a:t> le </a:t>
            </a:r>
            <a:r>
              <a:rPr lang="en-GB" dirty="0" err="1"/>
              <a:t>besoin</a:t>
            </a:r>
            <a:r>
              <a:rPr lang="en-GB" dirty="0"/>
              <a:t>, on </a:t>
            </a:r>
            <a:r>
              <a:rPr lang="en-GB" dirty="0" err="1"/>
              <a:t>comprend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le </a:t>
            </a:r>
            <a:r>
              <a:rPr lang="en-GB" dirty="0" err="1"/>
              <a:t>projet</a:t>
            </a:r>
            <a:r>
              <a:rPr lang="en-GB" dirty="0"/>
              <a:t> est plus </a:t>
            </a:r>
            <a:r>
              <a:rPr lang="en-GB" dirty="0" err="1"/>
              <a:t>complexe</a:t>
            </a:r>
            <a:r>
              <a:rPr lang="en-GB" dirty="0"/>
              <a:t> </a:t>
            </a:r>
            <a:r>
              <a:rPr lang="en-GB" dirty="0" err="1"/>
              <a:t>qu’une</a:t>
            </a:r>
            <a:r>
              <a:rPr lang="en-GB" dirty="0"/>
              <a:t> simple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d’événements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besoin</a:t>
            </a:r>
            <a:r>
              <a:rPr lang="en-GB" dirty="0"/>
              <a:t> </a:t>
            </a:r>
            <a:r>
              <a:rPr lang="en-GB" dirty="0" err="1"/>
              <a:t>réel</a:t>
            </a:r>
            <a:r>
              <a:rPr lang="en-GB" dirty="0"/>
              <a:t> est de </a:t>
            </a:r>
            <a:r>
              <a:rPr lang="en-GB" dirty="0" err="1"/>
              <a:t>créer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plateforme</a:t>
            </a:r>
            <a:r>
              <a:rPr lang="en-GB" dirty="0"/>
              <a:t> de </a:t>
            </a:r>
            <a:r>
              <a:rPr lang="en-GB" dirty="0" err="1"/>
              <a:t>recommandation</a:t>
            </a:r>
            <a:r>
              <a:rPr lang="en-GB" dirty="0"/>
              <a:t> </a:t>
            </a:r>
            <a:r>
              <a:rPr lang="en-GB" dirty="0" err="1"/>
              <a:t>culturelle</a:t>
            </a:r>
            <a:r>
              <a:rPr lang="en-GB" dirty="0"/>
              <a:t> locale à </a:t>
            </a:r>
            <a:r>
              <a:rPr lang="en-GB" dirty="0" err="1"/>
              <a:t>l’échelle</a:t>
            </a:r>
            <a:r>
              <a:rPr lang="en-GB" dirty="0"/>
              <a:t> </a:t>
            </a:r>
            <a:r>
              <a:rPr lang="en-GB" dirty="0" err="1"/>
              <a:t>nationale</a:t>
            </a:r>
            <a:r>
              <a:rPr lang="en-GB" dirty="0"/>
              <a:t>.</a:t>
            </a:r>
          </a:p>
          <a:p>
            <a:r>
              <a:rPr lang="en-GB" dirty="0"/>
              <a:t>Cela </a:t>
            </a:r>
            <a:r>
              <a:rPr lang="en-GB" dirty="0" err="1"/>
              <a:t>implique</a:t>
            </a:r>
            <a:r>
              <a:rPr lang="en-GB" dirty="0"/>
              <a:t> </a:t>
            </a:r>
            <a:r>
              <a:rPr lang="en-GB" dirty="0" err="1"/>
              <a:t>plusieurs</a:t>
            </a:r>
            <a:r>
              <a:rPr lang="en-GB" dirty="0"/>
              <a:t> choses.</a:t>
            </a:r>
          </a:p>
          <a:p>
            <a:r>
              <a:rPr lang="en-GB" dirty="0" err="1"/>
              <a:t>Premièrement</a:t>
            </a:r>
            <a:r>
              <a:rPr lang="en-GB" dirty="0"/>
              <a:t>, il faut centraliser les données concerts, car </a:t>
            </a:r>
            <a:r>
              <a:rPr lang="en-GB" dirty="0" err="1"/>
              <a:t>elles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venir</a:t>
            </a:r>
            <a:r>
              <a:rPr lang="en-GB" dirty="0"/>
              <a:t> de </a:t>
            </a:r>
            <a:r>
              <a:rPr lang="en-GB" dirty="0" err="1"/>
              <a:t>plusieurs</a:t>
            </a:r>
            <a:r>
              <a:rPr lang="en-GB" dirty="0"/>
              <a:t> sources : API, </a:t>
            </a:r>
            <a:r>
              <a:rPr lang="en-GB" dirty="0" err="1"/>
              <a:t>billetteries</a:t>
            </a:r>
            <a:r>
              <a:rPr lang="en-GB" dirty="0"/>
              <a:t>, salles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organisateurs</a:t>
            </a:r>
            <a:r>
              <a:rPr lang="en-GB" dirty="0"/>
              <a:t>.</a:t>
            </a:r>
          </a:p>
          <a:p>
            <a:r>
              <a:rPr lang="en-GB" dirty="0" err="1"/>
              <a:t>Deuxièmement</a:t>
            </a:r>
            <a:r>
              <a:rPr lang="en-GB" dirty="0"/>
              <a:t>, il faut qualifier </a:t>
            </a:r>
            <a:r>
              <a:rPr lang="en-GB" dirty="0" err="1"/>
              <a:t>ces</a:t>
            </a:r>
            <a:r>
              <a:rPr lang="en-GB" dirty="0"/>
              <a:t> données. Une </a:t>
            </a:r>
            <a:r>
              <a:rPr lang="en-GB" dirty="0" err="1"/>
              <a:t>mauvaise</a:t>
            </a:r>
            <a:r>
              <a:rPr lang="en-GB" dirty="0"/>
              <a:t> date, un lieu incorrect </a:t>
            </a:r>
            <a:r>
              <a:rPr lang="en-GB" dirty="0" err="1"/>
              <a:t>ou</a:t>
            </a:r>
            <a:r>
              <a:rPr lang="en-GB" dirty="0"/>
              <a:t> un concert </a:t>
            </a:r>
            <a:r>
              <a:rPr lang="en-GB" dirty="0" err="1"/>
              <a:t>annulé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rapidement</a:t>
            </a:r>
            <a:r>
              <a:rPr lang="en-GB" dirty="0"/>
              <a:t> </a:t>
            </a:r>
            <a:r>
              <a:rPr lang="en-GB" dirty="0" err="1"/>
              <a:t>dégrader</a:t>
            </a:r>
            <a:r>
              <a:rPr lang="en-GB" dirty="0"/>
              <a:t> la </a:t>
            </a:r>
            <a:r>
              <a:rPr lang="en-GB" dirty="0" err="1"/>
              <a:t>confiance</a:t>
            </a:r>
            <a:r>
              <a:rPr lang="en-GB" dirty="0"/>
              <a:t> de </a:t>
            </a:r>
            <a:r>
              <a:rPr lang="en-GB" dirty="0" err="1"/>
              <a:t>l’utilisateur</a:t>
            </a:r>
            <a:r>
              <a:rPr lang="en-GB" dirty="0"/>
              <a:t>.</a:t>
            </a:r>
          </a:p>
          <a:p>
            <a:r>
              <a:rPr lang="en-GB" dirty="0" err="1"/>
              <a:t>Troisièmement</a:t>
            </a:r>
            <a:r>
              <a:rPr lang="en-GB" dirty="0"/>
              <a:t>, il faut </a:t>
            </a:r>
            <a:r>
              <a:rPr lang="en-GB" dirty="0" err="1"/>
              <a:t>personnaliser</a:t>
            </a:r>
            <a:r>
              <a:rPr lang="en-GB" dirty="0"/>
              <a:t> </a:t>
            </a:r>
            <a:r>
              <a:rPr lang="en-GB" dirty="0" err="1"/>
              <a:t>l’expérience</a:t>
            </a:r>
            <a:r>
              <a:rPr lang="en-GB" dirty="0"/>
              <a:t>. </a:t>
            </a:r>
            <a:r>
              <a:rPr lang="en-GB" dirty="0" err="1"/>
              <a:t>L’utilisateur</a:t>
            </a:r>
            <a:r>
              <a:rPr lang="en-GB" dirty="0"/>
              <a:t> ne </a:t>
            </a:r>
            <a:r>
              <a:rPr lang="en-GB" dirty="0" err="1"/>
              <a:t>veut</a:t>
            </a:r>
            <a:r>
              <a:rPr lang="en-GB" dirty="0"/>
              <a:t> pas </a:t>
            </a:r>
            <a:r>
              <a:rPr lang="en-GB" dirty="0" err="1"/>
              <a:t>recevoir</a:t>
            </a:r>
            <a:r>
              <a:rPr lang="en-GB" dirty="0"/>
              <a:t> </a:t>
            </a:r>
            <a:r>
              <a:rPr lang="en-GB" dirty="0" err="1"/>
              <a:t>toutes</a:t>
            </a:r>
            <a:r>
              <a:rPr lang="en-GB" dirty="0"/>
              <a:t> les </a:t>
            </a:r>
            <a:r>
              <a:rPr lang="en-GB" dirty="0" err="1"/>
              <a:t>informations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seulement</a:t>
            </a:r>
            <a:r>
              <a:rPr lang="en-GB" dirty="0"/>
              <a:t> les concerts qui correspondent à </a:t>
            </a:r>
            <a:r>
              <a:rPr lang="en-GB" dirty="0" err="1"/>
              <a:t>sa</a:t>
            </a:r>
            <a:r>
              <a:rPr lang="en-GB" dirty="0"/>
              <a:t> localisation, </a:t>
            </a:r>
            <a:r>
              <a:rPr lang="en-GB" dirty="0" err="1"/>
              <a:t>ses</a:t>
            </a:r>
            <a:r>
              <a:rPr lang="en-GB" dirty="0"/>
              <a:t> </a:t>
            </a:r>
            <a:r>
              <a:rPr lang="en-GB" dirty="0" err="1"/>
              <a:t>goûts</a:t>
            </a:r>
            <a:r>
              <a:rPr lang="en-GB" dirty="0"/>
              <a:t> </a:t>
            </a:r>
            <a:r>
              <a:rPr lang="en-GB" dirty="0" err="1"/>
              <a:t>musicaux</a:t>
            </a:r>
            <a:r>
              <a:rPr lang="en-GB" dirty="0"/>
              <a:t> et </a:t>
            </a:r>
            <a:r>
              <a:rPr lang="en-GB" dirty="0" err="1"/>
              <a:t>ses</a:t>
            </a:r>
            <a:r>
              <a:rPr lang="en-GB" dirty="0"/>
              <a:t> </a:t>
            </a:r>
            <a:r>
              <a:rPr lang="en-GB" dirty="0" err="1"/>
              <a:t>préférences</a:t>
            </a:r>
            <a:r>
              <a:rPr lang="en-GB" dirty="0"/>
              <a:t>.</a:t>
            </a:r>
          </a:p>
          <a:p>
            <a:r>
              <a:rPr lang="en-GB" dirty="0"/>
              <a:t>Les </a:t>
            </a:r>
            <a:r>
              <a:rPr lang="en-GB" dirty="0" err="1"/>
              <a:t>enjeux</a:t>
            </a:r>
            <a:r>
              <a:rPr lang="en-GB" dirty="0"/>
              <a:t> </a:t>
            </a:r>
            <a:r>
              <a:rPr lang="en-GB" dirty="0" err="1"/>
              <a:t>principaux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l’adoption</a:t>
            </a:r>
            <a:r>
              <a:rPr lang="en-GB" dirty="0"/>
              <a:t> </a:t>
            </a:r>
            <a:r>
              <a:rPr lang="en-GB" dirty="0" err="1"/>
              <a:t>utilisateur</a:t>
            </a:r>
            <a:r>
              <a:rPr lang="en-GB" dirty="0"/>
              <a:t>, la </a:t>
            </a:r>
            <a:r>
              <a:rPr lang="en-GB" dirty="0" err="1"/>
              <a:t>fiabilité</a:t>
            </a:r>
            <a:r>
              <a:rPr lang="en-GB" dirty="0"/>
              <a:t> des sources, la </a:t>
            </a:r>
            <a:r>
              <a:rPr lang="en-GB" dirty="0" err="1"/>
              <a:t>conformité</a:t>
            </a:r>
            <a:r>
              <a:rPr lang="en-GB" dirty="0"/>
              <a:t> </a:t>
            </a:r>
            <a:r>
              <a:rPr lang="en-GB" dirty="0" err="1"/>
              <a:t>réglementaire</a:t>
            </a:r>
            <a:r>
              <a:rPr lang="en-GB" dirty="0"/>
              <a:t> et la construction d’un </a:t>
            </a:r>
            <a:r>
              <a:rPr lang="en-GB" dirty="0" err="1"/>
              <a:t>modèle</a:t>
            </a:r>
            <a:r>
              <a:rPr lang="en-GB" dirty="0"/>
              <a:t> économique durable.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cartographie</a:t>
            </a:r>
            <a:r>
              <a:rPr lang="en-GB" dirty="0"/>
              <a:t> des parties </a:t>
            </a:r>
            <a:r>
              <a:rPr lang="en-GB" dirty="0" err="1"/>
              <a:t>prenantes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d’identifier</a:t>
            </a:r>
            <a:r>
              <a:rPr lang="en-GB" dirty="0"/>
              <a:t> </a:t>
            </a:r>
            <a:r>
              <a:rPr lang="en-GB" dirty="0" err="1"/>
              <a:t>tous</a:t>
            </a:r>
            <a:r>
              <a:rPr lang="en-GB" dirty="0"/>
              <a:t> les </a:t>
            </a:r>
            <a:r>
              <a:rPr lang="en-GB" dirty="0" err="1"/>
              <a:t>acteurs</a:t>
            </a:r>
            <a:r>
              <a:rPr lang="en-GB" dirty="0"/>
              <a:t> </a:t>
            </a:r>
            <a:r>
              <a:rPr lang="en-GB" dirty="0" err="1"/>
              <a:t>concernés</a:t>
            </a:r>
            <a:r>
              <a:rPr lang="en-GB" dirty="0"/>
              <a:t> </a:t>
            </a:r>
            <a:r>
              <a:rPr lang="en-GB" dirty="0" err="1"/>
              <a:t>directement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indirectement</a:t>
            </a:r>
            <a:r>
              <a:rPr lang="en-GB" dirty="0"/>
              <a:t> par le </a:t>
            </a:r>
            <a:r>
              <a:rPr lang="en-GB" dirty="0" err="1"/>
              <a:t>projet</a:t>
            </a:r>
            <a:r>
              <a:rPr lang="en-GB" dirty="0"/>
              <a:t>.</a:t>
            </a:r>
          </a:p>
          <a:p>
            <a:r>
              <a:rPr lang="en-GB" dirty="0"/>
              <a:t>Au centre, on </a:t>
            </a:r>
            <a:r>
              <a:rPr lang="en-GB" dirty="0" err="1"/>
              <a:t>retrouve</a:t>
            </a:r>
            <a:r>
              <a:rPr lang="en-GB" dirty="0"/>
              <a:t> </a:t>
            </a:r>
            <a:r>
              <a:rPr lang="en-GB" b="1" dirty="0" err="1"/>
              <a:t>LiveAround</a:t>
            </a:r>
            <a:r>
              <a:rPr lang="en-GB" dirty="0"/>
              <a:t>, le </a:t>
            </a:r>
            <a:r>
              <a:rPr lang="en-GB" dirty="0" err="1"/>
              <a:t>produit</a:t>
            </a:r>
            <a:r>
              <a:rPr lang="en-GB" dirty="0"/>
              <a:t> à </a:t>
            </a:r>
            <a:r>
              <a:rPr lang="en-GB" dirty="0" err="1"/>
              <a:t>développer</a:t>
            </a:r>
            <a:r>
              <a:rPr lang="en-GB" dirty="0"/>
              <a:t>.</a:t>
            </a:r>
          </a:p>
          <a:p>
            <a:r>
              <a:rPr lang="en-GB" dirty="0" err="1"/>
              <a:t>Autour</a:t>
            </a:r>
            <a:r>
              <a:rPr lang="en-GB" dirty="0"/>
              <a:t>,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acteurs</a:t>
            </a:r>
            <a:r>
              <a:rPr lang="en-GB" dirty="0"/>
              <a:t> </a:t>
            </a:r>
            <a:r>
              <a:rPr lang="en-GB" dirty="0" err="1"/>
              <a:t>gravitent</a:t>
            </a:r>
            <a:r>
              <a:rPr lang="en-GB" dirty="0"/>
              <a:t>.</a:t>
            </a:r>
          </a:p>
          <a:p>
            <a:r>
              <a:rPr lang="en-GB" dirty="0"/>
              <a:t>Il y a </a:t>
            </a:r>
            <a:r>
              <a:rPr lang="en-GB" dirty="0" err="1"/>
              <a:t>d’abord</a:t>
            </a:r>
            <a:r>
              <a:rPr lang="en-GB" dirty="0"/>
              <a:t> les </a:t>
            </a:r>
            <a:r>
              <a:rPr lang="en-GB" b="1" dirty="0" err="1"/>
              <a:t>utilisateurs</a:t>
            </a:r>
            <a:r>
              <a:rPr lang="en-GB" b="1" dirty="0"/>
              <a:t> </a:t>
            </a:r>
            <a:r>
              <a:rPr lang="en-GB" b="1" dirty="0" err="1"/>
              <a:t>finaux</a:t>
            </a:r>
            <a:r>
              <a:rPr lang="en-GB" dirty="0"/>
              <a:t>, qui </a:t>
            </a:r>
            <a:r>
              <a:rPr lang="en-GB" dirty="0" err="1"/>
              <a:t>sont</a:t>
            </a:r>
            <a:r>
              <a:rPr lang="en-GB" dirty="0"/>
              <a:t> la </a:t>
            </a:r>
            <a:r>
              <a:rPr lang="en-GB" dirty="0" err="1"/>
              <a:t>cible</a:t>
            </a:r>
            <a:r>
              <a:rPr lang="en-GB" dirty="0"/>
              <a:t> </a:t>
            </a:r>
            <a:r>
              <a:rPr lang="en-GB" dirty="0" err="1"/>
              <a:t>principale</a:t>
            </a:r>
            <a:r>
              <a:rPr lang="en-GB" dirty="0"/>
              <a:t> de </a:t>
            </a:r>
            <a:r>
              <a:rPr lang="en-GB" dirty="0" err="1"/>
              <a:t>l’application</a:t>
            </a:r>
            <a:r>
              <a:rPr lang="en-GB" dirty="0"/>
              <a:t>. Ce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eux</a:t>
            </a:r>
            <a:r>
              <a:rPr lang="en-GB" dirty="0"/>
              <a:t> qui </a:t>
            </a:r>
            <a:r>
              <a:rPr lang="en-GB" dirty="0" err="1"/>
              <a:t>vont</a:t>
            </a:r>
            <a:r>
              <a:rPr lang="en-GB" dirty="0"/>
              <a:t> </a:t>
            </a:r>
            <a:r>
              <a:rPr lang="en-GB" dirty="0" err="1"/>
              <a:t>rechercher</a:t>
            </a:r>
            <a:r>
              <a:rPr lang="en-GB" dirty="0"/>
              <a:t> des concerts, </a:t>
            </a:r>
            <a:r>
              <a:rPr lang="en-GB" dirty="0" err="1"/>
              <a:t>définir</a:t>
            </a:r>
            <a:r>
              <a:rPr lang="en-GB" dirty="0"/>
              <a:t> </a:t>
            </a:r>
            <a:r>
              <a:rPr lang="en-GB" dirty="0" err="1"/>
              <a:t>leurs</a:t>
            </a:r>
            <a:r>
              <a:rPr lang="en-GB" dirty="0"/>
              <a:t> </a:t>
            </a:r>
            <a:r>
              <a:rPr lang="en-GB" dirty="0" err="1"/>
              <a:t>préférences</a:t>
            </a:r>
            <a:r>
              <a:rPr lang="en-GB" dirty="0"/>
              <a:t> et </a:t>
            </a:r>
            <a:r>
              <a:rPr lang="en-GB" dirty="0" err="1"/>
              <a:t>recevoir</a:t>
            </a:r>
            <a:r>
              <a:rPr lang="en-GB" dirty="0"/>
              <a:t> des notifications.</a:t>
            </a:r>
          </a:p>
          <a:p>
            <a:r>
              <a:rPr lang="en-GB" dirty="0"/>
              <a:t>Ensuite, il y a </a:t>
            </a:r>
            <a:r>
              <a:rPr lang="en-GB" b="1" dirty="0" err="1"/>
              <a:t>PulseEvent</a:t>
            </a:r>
            <a:r>
              <a:rPr lang="en-GB" b="1" dirty="0"/>
              <a:t> SAS</a:t>
            </a:r>
            <a:r>
              <a:rPr lang="en-GB" dirty="0"/>
              <a:t>, le client commanditaire, qui </a:t>
            </a:r>
            <a:r>
              <a:rPr lang="en-GB" dirty="0" err="1"/>
              <a:t>porte</a:t>
            </a:r>
            <a:r>
              <a:rPr lang="en-GB" dirty="0"/>
              <a:t> la vision </a:t>
            </a:r>
            <a:r>
              <a:rPr lang="en-GB" dirty="0" err="1"/>
              <a:t>produit</a:t>
            </a:r>
            <a:r>
              <a:rPr lang="en-GB" dirty="0"/>
              <a:t> et les </a:t>
            </a:r>
            <a:r>
              <a:rPr lang="en-GB" dirty="0" err="1"/>
              <a:t>objectifs</a:t>
            </a:r>
            <a:r>
              <a:rPr lang="en-GB" dirty="0"/>
              <a:t> </a:t>
            </a:r>
            <a:r>
              <a:rPr lang="en-GB" dirty="0" err="1"/>
              <a:t>économiques</a:t>
            </a:r>
            <a:r>
              <a:rPr lang="en-GB" dirty="0"/>
              <a:t>.</a:t>
            </a:r>
          </a:p>
          <a:p>
            <a:r>
              <a:rPr lang="en-GB" dirty="0"/>
              <a:t>On </a:t>
            </a:r>
            <a:r>
              <a:rPr lang="en-GB" dirty="0" err="1"/>
              <a:t>retrouve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</a:t>
            </a:r>
            <a:r>
              <a:rPr lang="en-GB" dirty="0" err="1"/>
              <a:t>l’</a:t>
            </a:r>
            <a:r>
              <a:rPr lang="en-GB" b="1" dirty="0" err="1"/>
              <a:t>équipe</a:t>
            </a:r>
            <a:r>
              <a:rPr lang="en-GB" b="1" dirty="0"/>
              <a:t> </a:t>
            </a:r>
            <a:r>
              <a:rPr lang="en-GB" b="1" dirty="0" err="1"/>
              <a:t>projet</a:t>
            </a:r>
            <a:r>
              <a:rPr lang="en-GB" dirty="0"/>
              <a:t>, </a:t>
            </a:r>
            <a:r>
              <a:rPr lang="en-GB" dirty="0" err="1"/>
              <a:t>composée</a:t>
            </a:r>
            <a:r>
              <a:rPr lang="en-GB" dirty="0"/>
              <a:t> </a:t>
            </a:r>
            <a:r>
              <a:rPr lang="en-GB" dirty="0" err="1"/>
              <a:t>notamment</a:t>
            </a:r>
            <a:r>
              <a:rPr lang="en-GB" dirty="0"/>
              <a:t> du chef de </a:t>
            </a:r>
            <a:r>
              <a:rPr lang="en-GB" dirty="0" err="1"/>
              <a:t>projet</a:t>
            </a:r>
            <a:r>
              <a:rPr lang="en-GB" dirty="0"/>
              <a:t>, des </a:t>
            </a:r>
            <a:r>
              <a:rPr lang="en-GB" dirty="0" err="1"/>
              <a:t>développeurs</a:t>
            </a:r>
            <a:r>
              <a:rPr lang="en-GB" dirty="0"/>
              <a:t> mobile, des </a:t>
            </a:r>
            <a:r>
              <a:rPr lang="en-GB" dirty="0" err="1"/>
              <a:t>développeurs</a:t>
            </a:r>
            <a:r>
              <a:rPr lang="en-GB" dirty="0"/>
              <a:t> backend, de </a:t>
            </a:r>
            <a:r>
              <a:rPr lang="en-GB" dirty="0" err="1"/>
              <a:t>l’UX</a:t>
            </a:r>
            <a:r>
              <a:rPr lang="en-GB" dirty="0"/>
              <a:t>/UI designer, du </a:t>
            </a:r>
            <a:r>
              <a:rPr lang="en-GB" dirty="0" err="1"/>
              <a:t>testeur</a:t>
            </a:r>
            <a:r>
              <a:rPr lang="en-GB" dirty="0"/>
              <a:t> et du DevOps.</a:t>
            </a:r>
          </a:p>
          <a:p>
            <a:r>
              <a:rPr lang="en-GB" dirty="0"/>
              <a:t>Les </a:t>
            </a:r>
            <a:r>
              <a:rPr lang="en-GB" b="1" dirty="0"/>
              <a:t>salles de concert et les </a:t>
            </a:r>
            <a:r>
              <a:rPr lang="en-GB" b="1" dirty="0" err="1"/>
              <a:t>organisateurs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également</a:t>
            </a:r>
            <a:r>
              <a:rPr lang="en-GB" dirty="0"/>
              <a:t> </a:t>
            </a:r>
            <a:r>
              <a:rPr lang="en-GB" dirty="0" err="1"/>
              <a:t>essentiels</a:t>
            </a:r>
            <a:r>
              <a:rPr lang="en-GB" dirty="0"/>
              <a:t>, car </a:t>
            </a:r>
            <a:r>
              <a:rPr lang="en-GB" dirty="0" err="1"/>
              <a:t>ils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fournir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valider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partie</a:t>
            </a:r>
            <a:r>
              <a:rPr lang="en-GB" dirty="0"/>
              <a:t> des données </a:t>
            </a:r>
            <a:r>
              <a:rPr lang="en-GB" dirty="0" err="1"/>
              <a:t>événementielles</a:t>
            </a:r>
            <a:r>
              <a:rPr lang="en-GB" dirty="0"/>
              <a:t>.</a:t>
            </a:r>
          </a:p>
          <a:p>
            <a:r>
              <a:rPr lang="en-GB" dirty="0"/>
              <a:t>Les </a:t>
            </a:r>
            <a:r>
              <a:rPr lang="en-GB" b="1" dirty="0" err="1"/>
              <a:t>billetteries</a:t>
            </a:r>
            <a:r>
              <a:rPr lang="en-GB" b="1" dirty="0"/>
              <a:t> </a:t>
            </a:r>
            <a:r>
              <a:rPr lang="en-GB" b="1" dirty="0" err="1"/>
              <a:t>partenaires</a:t>
            </a:r>
            <a:r>
              <a:rPr lang="en-GB" dirty="0"/>
              <a:t> </a:t>
            </a:r>
            <a:r>
              <a:rPr lang="en-GB" dirty="0" err="1"/>
              <a:t>ont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un </a:t>
            </a:r>
            <a:r>
              <a:rPr lang="en-GB" dirty="0" err="1"/>
              <a:t>rôle</a:t>
            </a:r>
            <a:r>
              <a:rPr lang="en-GB" dirty="0"/>
              <a:t> important, </a:t>
            </a:r>
            <a:r>
              <a:rPr lang="en-GB" dirty="0" err="1"/>
              <a:t>puisqu’elles</a:t>
            </a:r>
            <a:r>
              <a:rPr lang="en-GB" dirty="0"/>
              <a:t> </a:t>
            </a:r>
            <a:r>
              <a:rPr lang="en-GB" dirty="0" err="1"/>
              <a:t>permettent</a:t>
            </a:r>
            <a:r>
              <a:rPr lang="en-GB" dirty="0"/>
              <a:t> la conversion entre la </a:t>
            </a:r>
            <a:r>
              <a:rPr lang="en-GB" dirty="0" err="1"/>
              <a:t>découverte</a:t>
            </a:r>
            <a:r>
              <a:rPr lang="en-GB" dirty="0"/>
              <a:t> d’un concert et </a:t>
            </a:r>
            <a:r>
              <a:rPr lang="en-GB" dirty="0" err="1"/>
              <a:t>l’achat</a:t>
            </a:r>
            <a:r>
              <a:rPr lang="en-GB" dirty="0"/>
              <a:t> d’un billet.</a:t>
            </a:r>
          </a:p>
          <a:p>
            <a:r>
              <a:rPr lang="en-GB" dirty="0" err="1"/>
              <a:t>Enfin</a:t>
            </a:r>
            <a:r>
              <a:rPr lang="en-GB" dirty="0"/>
              <a:t>, il faut </a:t>
            </a:r>
            <a:r>
              <a:rPr lang="en-GB" dirty="0" err="1"/>
              <a:t>intégrer</a:t>
            </a:r>
            <a:r>
              <a:rPr lang="en-GB" dirty="0"/>
              <a:t> les </a:t>
            </a:r>
            <a:r>
              <a:rPr lang="en-GB" dirty="0" err="1"/>
              <a:t>acteurs</a:t>
            </a:r>
            <a:r>
              <a:rPr lang="en-GB" dirty="0"/>
              <a:t> </a:t>
            </a:r>
            <a:r>
              <a:rPr lang="en-GB" dirty="0" err="1"/>
              <a:t>liés</a:t>
            </a:r>
            <a:r>
              <a:rPr lang="en-GB" dirty="0"/>
              <a:t> à la </a:t>
            </a:r>
            <a:r>
              <a:rPr lang="en-GB" dirty="0" err="1"/>
              <a:t>conformité</a:t>
            </a:r>
            <a:r>
              <a:rPr lang="en-GB" dirty="0"/>
              <a:t>, </a:t>
            </a:r>
            <a:r>
              <a:rPr lang="en-GB" dirty="0" err="1"/>
              <a:t>comme</a:t>
            </a:r>
            <a:r>
              <a:rPr lang="en-GB" dirty="0"/>
              <a:t> le DPO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référent</a:t>
            </a:r>
            <a:r>
              <a:rPr lang="en-GB" dirty="0"/>
              <a:t> RGPD, </a:t>
            </a:r>
            <a:r>
              <a:rPr lang="en-GB" dirty="0" err="1"/>
              <a:t>ainsi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les </a:t>
            </a:r>
            <a:r>
              <a:rPr lang="en-GB" dirty="0" err="1"/>
              <a:t>fournisseurs</a:t>
            </a:r>
            <a:r>
              <a:rPr lang="en-GB" dirty="0"/>
              <a:t> techniques : cloud, API externes, </a:t>
            </a:r>
            <a:r>
              <a:rPr lang="en-GB" dirty="0" err="1"/>
              <a:t>cartographie</a:t>
            </a:r>
            <a:r>
              <a:rPr lang="en-GB" dirty="0"/>
              <a:t>, notifications et monitoring.</a:t>
            </a:r>
          </a:p>
          <a:p>
            <a:r>
              <a:rPr lang="en-GB" dirty="0"/>
              <a:t>Cette </a:t>
            </a:r>
            <a:r>
              <a:rPr lang="en-GB" dirty="0" err="1"/>
              <a:t>cartographie</a:t>
            </a:r>
            <a:r>
              <a:rPr lang="en-GB" dirty="0"/>
              <a:t> montre </a:t>
            </a:r>
            <a:r>
              <a:rPr lang="en-GB" dirty="0" err="1"/>
              <a:t>que</a:t>
            </a:r>
            <a:r>
              <a:rPr lang="en-GB" dirty="0"/>
              <a:t> le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n’est</a:t>
            </a:r>
            <a:r>
              <a:rPr lang="en-GB" dirty="0"/>
              <a:t> pas </a:t>
            </a:r>
            <a:r>
              <a:rPr lang="en-GB" dirty="0" err="1"/>
              <a:t>uniquement</a:t>
            </a:r>
            <a:r>
              <a:rPr lang="en-GB" dirty="0"/>
              <a:t> technique. Il </a:t>
            </a:r>
            <a:r>
              <a:rPr lang="en-GB" dirty="0" err="1"/>
              <a:t>dépend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de relations </a:t>
            </a:r>
            <a:r>
              <a:rPr lang="en-GB" dirty="0" err="1"/>
              <a:t>partenaires</a:t>
            </a:r>
            <a:r>
              <a:rPr lang="en-GB" dirty="0"/>
              <a:t>, de </a:t>
            </a:r>
            <a:r>
              <a:rPr lang="en-GB" dirty="0" err="1"/>
              <a:t>gouvernance</a:t>
            </a:r>
            <a:r>
              <a:rPr lang="en-GB" dirty="0"/>
              <a:t> de données et de </a:t>
            </a:r>
            <a:r>
              <a:rPr lang="en-GB" dirty="0" err="1"/>
              <a:t>conformité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partie</a:t>
            </a:r>
            <a:r>
              <a:rPr lang="en-GB" dirty="0"/>
              <a:t> </a:t>
            </a:r>
            <a:r>
              <a:rPr lang="en-GB" dirty="0" err="1"/>
              <a:t>prenante</a:t>
            </a:r>
            <a:r>
              <a:rPr lang="en-GB" dirty="0"/>
              <a:t> a des </a:t>
            </a:r>
            <a:r>
              <a:rPr lang="en-GB" dirty="0" err="1"/>
              <a:t>objectifs</a:t>
            </a:r>
            <a:r>
              <a:rPr lang="en-GB" dirty="0"/>
              <a:t> </a:t>
            </a:r>
            <a:r>
              <a:rPr lang="en-GB" dirty="0" err="1"/>
              <a:t>différents</a:t>
            </a:r>
            <a:r>
              <a:rPr lang="en-GB" dirty="0"/>
              <a:t>.</a:t>
            </a:r>
          </a:p>
          <a:p>
            <a:r>
              <a:rPr lang="en-GB" dirty="0"/>
              <a:t>Pour </a:t>
            </a:r>
            <a:r>
              <a:rPr lang="en-GB" b="1" dirty="0" err="1"/>
              <a:t>PulseEvent</a:t>
            </a:r>
            <a:r>
              <a:rPr lang="en-GB" b="1" dirty="0"/>
              <a:t> SAS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de lancer </a:t>
            </a:r>
            <a:r>
              <a:rPr lang="en-GB" dirty="0" err="1"/>
              <a:t>une</a:t>
            </a:r>
            <a:r>
              <a:rPr lang="en-GB" dirty="0"/>
              <a:t> application </a:t>
            </a:r>
            <a:r>
              <a:rPr lang="en-GB" dirty="0" err="1"/>
              <a:t>fiable</a:t>
            </a:r>
            <a:r>
              <a:rPr lang="en-GB" dirty="0"/>
              <a:t>, attractive et </a:t>
            </a:r>
            <a:r>
              <a:rPr lang="en-GB" dirty="0" err="1"/>
              <a:t>économiquement</a:t>
            </a:r>
            <a:r>
              <a:rPr lang="en-GB" dirty="0"/>
              <a:t> viable. </a:t>
            </a:r>
            <a:r>
              <a:rPr lang="en-GB" dirty="0" err="1"/>
              <a:t>L’enjeu</a:t>
            </a:r>
            <a:r>
              <a:rPr lang="en-GB" dirty="0"/>
              <a:t> est de se </a:t>
            </a:r>
            <a:r>
              <a:rPr lang="en-GB" dirty="0" err="1"/>
              <a:t>positionner</a:t>
            </a:r>
            <a:r>
              <a:rPr lang="en-GB" dirty="0"/>
              <a:t> sur le </a:t>
            </a:r>
            <a:r>
              <a:rPr lang="en-GB" dirty="0" err="1"/>
              <a:t>marché</a:t>
            </a:r>
            <a:r>
              <a:rPr lang="en-GB" dirty="0"/>
              <a:t> des </a:t>
            </a:r>
            <a:r>
              <a:rPr lang="en-GB" dirty="0" err="1"/>
              <a:t>événements</a:t>
            </a:r>
            <a:r>
              <a:rPr lang="en-GB" dirty="0"/>
              <a:t> </a:t>
            </a:r>
            <a:r>
              <a:rPr lang="en-GB" dirty="0" err="1"/>
              <a:t>culturels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proposant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ajoutée</a:t>
            </a:r>
            <a:r>
              <a:rPr lang="en-GB" dirty="0"/>
              <a:t> </a:t>
            </a:r>
            <a:r>
              <a:rPr lang="en-GB" dirty="0" err="1"/>
              <a:t>claire</a:t>
            </a:r>
            <a:r>
              <a:rPr lang="en-GB" dirty="0"/>
              <a:t>.</a:t>
            </a:r>
          </a:p>
          <a:p>
            <a:r>
              <a:rPr lang="en-GB" dirty="0"/>
              <a:t>Pour les </a:t>
            </a:r>
            <a:r>
              <a:rPr lang="en-GB" b="1" dirty="0" err="1"/>
              <a:t>utilisateurs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de </a:t>
            </a:r>
            <a:r>
              <a:rPr lang="en-GB" dirty="0" err="1"/>
              <a:t>trouver</a:t>
            </a:r>
            <a:r>
              <a:rPr lang="en-GB" dirty="0"/>
              <a:t> </a:t>
            </a:r>
            <a:r>
              <a:rPr lang="en-GB" dirty="0" err="1"/>
              <a:t>rapidement</a:t>
            </a:r>
            <a:r>
              <a:rPr lang="en-GB" dirty="0"/>
              <a:t> des concerts </a:t>
            </a:r>
            <a:r>
              <a:rPr lang="en-GB" dirty="0" err="1"/>
              <a:t>pertinents</a:t>
            </a:r>
            <a:r>
              <a:rPr lang="en-GB" dirty="0"/>
              <a:t>. Leur </a:t>
            </a:r>
            <a:r>
              <a:rPr lang="en-GB" dirty="0" err="1"/>
              <a:t>enjeu</a:t>
            </a:r>
            <a:r>
              <a:rPr lang="en-GB" dirty="0"/>
              <a:t> principal est la </a:t>
            </a:r>
            <a:r>
              <a:rPr lang="en-GB" dirty="0" err="1"/>
              <a:t>simplicité</a:t>
            </a:r>
            <a:r>
              <a:rPr lang="en-GB" dirty="0"/>
              <a:t> : </a:t>
            </a:r>
            <a:r>
              <a:rPr lang="en-GB" dirty="0" err="1"/>
              <a:t>ils</a:t>
            </a:r>
            <a:r>
              <a:rPr lang="en-GB" dirty="0"/>
              <a:t> </a:t>
            </a:r>
            <a:r>
              <a:rPr lang="en-GB" dirty="0" err="1"/>
              <a:t>veulent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application </a:t>
            </a:r>
            <a:r>
              <a:rPr lang="en-GB" dirty="0" err="1"/>
              <a:t>rapide</a:t>
            </a:r>
            <a:r>
              <a:rPr lang="en-GB" dirty="0"/>
              <a:t>, </a:t>
            </a:r>
            <a:r>
              <a:rPr lang="en-GB" dirty="0" err="1"/>
              <a:t>claire</a:t>
            </a:r>
            <a:r>
              <a:rPr lang="en-GB" dirty="0"/>
              <a:t>, </a:t>
            </a:r>
            <a:r>
              <a:rPr lang="en-GB" dirty="0" err="1"/>
              <a:t>personnalisée</a:t>
            </a:r>
            <a:r>
              <a:rPr lang="en-GB" dirty="0"/>
              <a:t> et non intrusive.</a:t>
            </a:r>
          </a:p>
          <a:p>
            <a:r>
              <a:rPr lang="en-GB" dirty="0"/>
              <a:t>Pour les </a:t>
            </a:r>
            <a:r>
              <a:rPr lang="en-GB" b="1" dirty="0"/>
              <a:t>salles et </a:t>
            </a:r>
            <a:r>
              <a:rPr lang="en-GB" b="1" dirty="0" err="1"/>
              <a:t>organisateurs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</a:t>
            </a:r>
            <a:r>
              <a:rPr lang="en-GB" dirty="0" err="1"/>
              <a:t>d’améliorer</a:t>
            </a:r>
            <a:r>
              <a:rPr lang="en-GB" dirty="0"/>
              <a:t> la </a:t>
            </a:r>
            <a:r>
              <a:rPr lang="en-GB" dirty="0" err="1"/>
              <a:t>visibilité</a:t>
            </a:r>
            <a:r>
              <a:rPr lang="en-GB" dirty="0"/>
              <a:t> des </a:t>
            </a:r>
            <a:r>
              <a:rPr lang="en-GB" dirty="0" err="1"/>
              <a:t>événements</a:t>
            </a:r>
            <a:r>
              <a:rPr lang="en-GB" dirty="0"/>
              <a:t>. </a:t>
            </a:r>
            <a:r>
              <a:rPr lang="en-GB" dirty="0" err="1"/>
              <a:t>L’enjeu</a:t>
            </a:r>
            <a:r>
              <a:rPr lang="en-GB" dirty="0"/>
              <a:t> est </a:t>
            </a:r>
            <a:r>
              <a:rPr lang="en-GB" dirty="0" err="1"/>
              <a:t>d’attirer</a:t>
            </a:r>
            <a:r>
              <a:rPr lang="en-GB" dirty="0"/>
              <a:t> </a:t>
            </a:r>
            <a:r>
              <a:rPr lang="en-GB" dirty="0" err="1"/>
              <a:t>davantage</a:t>
            </a:r>
            <a:r>
              <a:rPr lang="en-GB" dirty="0"/>
              <a:t> de public, </a:t>
            </a:r>
            <a:r>
              <a:rPr lang="en-GB" dirty="0" err="1"/>
              <a:t>notamment</a:t>
            </a:r>
            <a:r>
              <a:rPr lang="en-GB" dirty="0"/>
              <a:t> sur les concerts </a:t>
            </a:r>
            <a:r>
              <a:rPr lang="en-GB" dirty="0" err="1"/>
              <a:t>moins</a:t>
            </a:r>
            <a:r>
              <a:rPr lang="en-GB" dirty="0"/>
              <a:t> </a:t>
            </a:r>
            <a:r>
              <a:rPr lang="en-GB" dirty="0" err="1"/>
              <a:t>médiatisés</a:t>
            </a:r>
            <a:r>
              <a:rPr lang="en-GB" dirty="0"/>
              <a:t>.</a:t>
            </a:r>
          </a:p>
          <a:p>
            <a:r>
              <a:rPr lang="en-GB" dirty="0"/>
              <a:t>Pour les </a:t>
            </a:r>
            <a:r>
              <a:rPr lang="en-GB" b="1" dirty="0" err="1"/>
              <a:t>billetteries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de </a:t>
            </a:r>
            <a:r>
              <a:rPr lang="en-GB" dirty="0" err="1"/>
              <a:t>générer</a:t>
            </a:r>
            <a:r>
              <a:rPr lang="en-GB" dirty="0"/>
              <a:t> du </a:t>
            </a:r>
            <a:r>
              <a:rPr lang="en-GB" dirty="0" err="1"/>
              <a:t>trafic</a:t>
            </a:r>
            <a:r>
              <a:rPr lang="en-GB" dirty="0"/>
              <a:t> </a:t>
            </a:r>
            <a:r>
              <a:rPr lang="en-GB" dirty="0" err="1"/>
              <a:t>qualifié</a:t>
            </a:r>
            <a:r>
              <a:rPr lang="en-GB" dirty="0"/>
              <a:t> vers </a:t>
            </a:r>
            <a:r>
              <a:rPr lang="en-GB" dirty="0" err="1"/>
              <a:t>leurs</a:t>
            </a:r>
            <a:r>
              <a:rPr lang="en-GB" dirty="0"/>
              <a:t> </a:t>
            </a:r>
            <a:r>
              <a:rPr lang="en-GB" dirty="0" err="1"/>
              <a:t>plateformes</a:t>
            </a:r>
            <a:r>
              <a:rPr lang="en-GB" dirty="0"/>
              <a:t>. </a:t>
            </a:r>
            <a:r>
              <a:rPr lang="en-GB" dirty="0" err="1"/>
              <a:t>L’enjeu</a:t>
            </a:r>
            <a:r>
              <a:rPr lang="en-GB" dirty="0"/>
              <a:t> est </a:t>
            </a:r>
            <a:r>
              <a:rPr lang="en-GB" dirty="0" err="1"/>
              <a:t>donc</a:t>
            </a:r>
            <a:r>
              <a:rPr lang="en-GB" dirty="0"/>
              <a:t> la conversion.</a:t>
            </a:r>
          </a:p>
          <a:p>
            <a:r>
              <a:rPr lang="en-GB" dirty="0"/>
              <a:t>Pour </a:t>
            </a:r>
            <a:r>
              <a:rPr lang="en-GB" dirty="0" err="1"/>
              <a:t>l’</a:t>
            </a:r>
            <a:r>
              <a:rPr lang="en-GB" b="1" dirty="0" err="1"/>
              <a:t>équipe</a:t>
            </a:r>
            <a:r>
              <a:rPr lang="en-GB" b="1" dirty="0"/>
              <a:t> </a:t>
            </a:r>
            <a:r>
              <a:rPr lang="en-GB" b="1" dirty="0" err="1"/>
              <a:t>projet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de </a:t>
            </a:r>
            <a:r>
              <a:rPr lang="en-GB" dirty="0" err="1"/>
              <a:t>livrer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solution </a:t>
            </a:r>
            <a:r>
              <a:rPr lang="en-GB" dirty="0" err="1"/>
              <a:t>fonctionnelle</a:t>
            </a:r>
            <a:r>
              <a:rPr lang="en-GB" dirty="0"/>
              <a:t>, </a:t>
            </a:r>
            <a:r>
              <a:rPr lang="en-GB" dirty="0" err="1"/>
              <a:t>maintenable</a:t>
            </a:r>
            <a:r>
              <a:rPr lang="en-GB" dirty="0"/>
              <a:t> et </a:t>
            </a:r>
            <a:r>
              <a:rPr lang="en-GB" dirty="0" err="1"/>
              <a:t>évolutive</a:t>
            </a:r>
            <a:r>
              <a:rPr lang="en-GB" dirty="0"/>
              <a:t>. </a:t>
            </a:r>
            <a:r>
              <a:rPr lang="en-GB" dirty="0" err="1"/>
              <a:t>L’enjeu</a:t>
            </a:r>
            <a:r>
              <a:rPr lang="en-GB" dirty="0"/>
              <a:t> est de respecter les </a:t>
            </a:r>
            <a:r>
              <a:rPr lang="en-GB" dirty="0" err="1"/>
              <a:t>délais</a:t>
            </a:r>
            <a:r>
              <a:rPr lang="en-GB" dirty="0"/>
              <a:t>, les </a:t>
            </a:r>
            <a:r>
              <a:rPr lang="en-GB" dirty="0" err="1"/>
              <a:t>coûts</a:t>
            </a:r>
            <a:r>
              <a:rPr lang="en-GB" dirty="0"/>
              <a:t> et la </a:t>
            </a:r>
            <a:r>
              <a:rPr lang="en-GB" dirty="0" err="1"/>
              <a:t>qualité</a:t>
            </a:r>
            <a:r>
              <a:rPr lang="en-GB" dirty="0"/>
              <a:t> </a:t>
            </a:r>
            <a:r>
              <a:rPr lang="en-GB" dirty="0" err="1"/>
              <a:t>attendue</a:t>
            </a:r>
            <a:r>
              <a:rPr lang="en-GB" dirty="0"/>
              <a:t>.</a:t>
            </a:r>
          </a:p>
          <a:p>
            <a:r>
              <a:rPr lang="en-GB" dirty="0" err="1"/>
              <a:t>Enfin</a:t>
            </a:r>
            <a:r>
              <a:rPr lang="en-GB" dirty="0"/>
              <a:t>, pour le </a:t>
            </a:r>
            <a:r>
              <a:rPr lang="en-GB" b="1" dirty="0" err="1"/>
              <a:t>référent</a:t>
            </a:r>
            <a:r>
              <a:rPr lang="en-GB" b="1" dirty="0"/>
              <a:t> RGPD</a:t>
            </a:r>
            <a:r>
              <a:rPr lang="en-GB" dirty="0"/>
              <a:t>, </a:t>
            </a:r>
            <a:r>
              <a:rPr lang="en-GB" dirty="0" err="1"/>
              <a:t>l’objectif</a:t>
            </a:r>
            <a:r>
              <a:rPr lang="en-GB" dirty="0"/>
              <a:t> est de </a:t>
            </a:r>
            <a:r>
              <a:rPr lang="en-GB" dirty="0" err="1"/>
              <a:t>garantir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respecte</a:t>
            </a:r>
            <a:r>
              <a:rPr lang="en-GB" dirty="0"/>
              <a:t> les </a:t>
            </a:r>
            <a:r>
              <a:rPr lang="en-GB" dirty="0" err="1"/>
              <a:t>règles</a:t>
            </a:r>
            <a:r>
              <a:rPr lang="en-GB" dirty="0"/>
              <a:t> de protection des données </a:t>
            </a:r>
            <a:r>
              <a:rPr lang="en-GB" dirty="0" err="1"/>
              <a:t>personnelles</a:t>
            </a:r>
            <a:r>
              <a:rPr lang="en-GB" dirty="0"/>
              <a:t>, </a:t>
            </a:r>
            <a:r>
              <a:rPr lang="en-GB" dirty="0" err="1"/>
              <a:t>notamment</a:t>
            </a:r>
            <a:r>
              <a:rPr lang="en-GB" dirty="0"/>
              <a:t> </a:t>
            </a:r>
            <a:r>
              <a:rPr lang="en-GB" dirty="0" err="1"/>
              <a:t>concernant</a:t>
            </a:r>
            <a:r>
              <a:rPr lang="en-GB" dirty="0"/>
              <a:t> la </a:t>
            </a:r>
            <a:r>
              <a:rPr lang="en-GB" dirty="0" err="1"/>
              <a:t>géolocalisation</a:t>
            </a:r>
            <a:r>
              <a:rPr lang="en-GB" dirty="0"/>
              <a:t> et les notifications.</a:t>
            </a:r>
          </a:p>
          <a:p>
            <a:r>
              <a:rPr lang="en-GB" dirty="0"/>
              <a:t>Le succès du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dépend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de </a:t>
            </a:r>
            <a:r>
              <a:rPr lang="en-GB" dirty="0" err="1"/>
              <a:t>l’équilibre</a:t>
            </a:r>
            <a:r>
              <a:rPr lang="en-GB" dirty="0"/>
              <a:t> entre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utilisateur</a:t>
            </a:r>
            <a:r>
              <a:rPr lang="en-GB" dirty="0"/>
              <a:t>, </a:t>
            </a:r>
            <a:r>
              <a:rPr lang="en-GB" dirty="0" err="1"/>
              <a:t>fiabilité</a:t>
            </a:r>
            <a:r>
              <a:rPr lang="en-GB" dirty="0"/>
              <a:t> des données et </a:t>
            </a:r>
            <a:r>
              <a:rPr lang="en-GB" dirty="0" err="1"/>
              <a:t>modèle</a:t>
            </a:r>
            <a:r>
              <a:rPr lang="en-GB" dirty="0"/>
              <a:t> économique.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présente</a:t>
            </a:r>
            <a:r>
              <a:rPr lang="en-GB" dirty="0"/>
              <a:t>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opportunités</a:t>
            </a:r>
            <a:r>
              <a:rPr lang="en-GB" dirty="0"/>
              <a:t>.</a:t>
            </a:r>
          </a:p>
          <a:p>
            <a:r>
              <a:rPr lang="en-GB" dirty="0"/>
              <a:t>La première est </a:t>
            </a:r>
            <a:r>
              <a:rPr lang="en-GB" dirty="0" err="1"/>
              <a:t>l’usage</a:t>
            </a:r>
            <a:r>
              <a:rPr lang="en-GB" dirty="0"/>
              <a:t> national.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utilisée</a:t>
            </a:r>
            <a:r>
              <a:rPr lang="en-GB" dirty="0"/>
              <a:t> </a:t>
            </a:r>
            <a:r>
              <a:rPr lang="en-GB" dirty="0" err="1"/>
              <a:t>partout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France, </a:t>
            </a:r>
            <a:r>
              <a:rPr lang="en-GB" dirty="0" err="1"/>
              <a:t>ce</a:t>
            </a:r>
            <a:r>
              <a:rPr lang="en-GB" dirty="0"/>
              <a:t> qui </a:t>
            </a:r>
            <a:r>
              <a:rPr lang="en-GB" dirty="0" err="1"/>
              <a:t>élargit</a:t>
            </a:r>
            <a:r>
              <a:rPr lang="en-GB" dirty="0"/>
              <a:t> </a:t>
            </a:r>
            <a:r>
              <a:rPr lang="en-GB" dirty="0" err="1"/>
              <a:t>fortement</a:t>
            </a:r>
            <a:r>
              <a:rPr lang="en-GB" dirty="0"/>
              <a:t> le </a:t>
            </a:r>
            <a:r>
              <a:rPr lang="en-GB" dirty="0" err="1"/>
              <a:t>marché</a:t>
            </a:r>
            <a:r>
              <a:rPr lang="en-GB" dirty="0"/>
              <a:t> </a:t>
            </a:r>
            <a:r>
              <a:rPr lang="en-GB" dirty="0" err="1"/>
              <a:t>potentiel</a:t>
            </a:r>
            <a:r>
              <a:rPr lang="en-GB" dirty="0"/>
              <a:t>.</a:t>
            </a:r>
          </a:p>
          <a:p>
            <a:r>
              <a:rPr lang="en-GB" dirty="0"/>
              <a:t>La deuxième </a:t>
            </a:r>
            <a:r>
              <a:rPr lang="en-GB" dirty="0" err="1"/>
              <a:t>opportunité</a:t>
            </a:r>
            <a:r>
              <a:rPr lang="en-GB" dirty="0"/>
              <a:t> </a:t>
            </a:r>
            <a:r>
              <a:rPr lang="en-GB" dirty="0" err="1"/>
              <a:t>concerne</a:t>
            </a:r>
            <a:r>
              <a:rPr lang="en-GB" dirty="0"/>
              <a:t> les </a:t>
            </a:r>
            <a:r>
              <a:rPr lang="en-GB" dirty="0" err="1"/>
              <a:t>partenariats</a:t>
            </a:r>
            <a:r>
              <a:rPr lang="en-GB" dirty="0"/>
              <a:t> </a:t>
            </a:r>
            <a:r>
              <a:rPr lang="en-GB" dirty="0" err="1"/>
              <a:t>locaux</a:t>
            </a:r>
            <a:r>
              <a:rPr lang="en-GB" dirty="0"/>
              <a:t> avec des salles, festivals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organisateurs</a:t>
            </a:r>
            <a:r>
              <a:rPr lang="en-GB" dirty="0"/>
              <a:t>.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partenariats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permettre</a:t>
            </a:r>
            <a:r>
              <a:rPr lang="en-GB" dirty="0"/>
              <a:t> </a:t>
            </a:r>
            <a:r>
              <a:rPr lang="en-GB" dirty="0" err="1"/>
              <a:t>d’obtenir</a:t>
            </a:r>
            <a:r>
              <a:rPr lang="en-GB" dirty="0"/>
              <a:t> des données plus </a:t>
            </a:r>
            <a:r>
              <a:rPr lang="en-GB" dirty="0" err="1"/>
              <a:t>fiables</a:t>
            </a:r>
            <a:r>
              <a:rPr lang="en-GB" dirty="0"/>
              <a:t> et plus </a:t>
            </a:r>
            <a:r>
              <a:rPr lang="en-GB" dirty="0" err="1"/>
              <a:t>complètes</a:t>
            </a:r>
            <a:r>
              <a:rPr lang="en-GB" dirty="0"/>
              <a:t>.</a:t>
            </a:r>
          </a:p>
          <a:p>
            <a:r>
              <a:rPr lang="en-GB" dirty="0"/>
              <a:t>Il </a:t>
            </a:r>
            <a:r>
              <a:rPr lang="en-GB" dirty="0" err="1"/>
              <a:t>existe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opportunité</a:t>
            </a:r>
            <a:r>
              <a:rPr lang="en-GB" dirty="0"/>
              <a:t> de </a:t>
            </a:r>
            <a:r>
              <a:rPr lang="en-GB" dirty="0" err="1"/>
              <a:t>monétisation</a:t>
            </a:r>
            <a:r>
              <a:rPr lang="en-GB" dirty="0"/>
              <a:t> par </a:t>
            </a:r>
            <a:r>
              <a:rPr lang="en-GB" dirty="0" err="1"/>
              <a:t>l’affiliation</a:t>
            </a:r>
            <a:r>
              <a:rPr lang="en-GB" dirty="0"/>
              <a:t> </a:t>
            </a:r>
            <a:r>
              <a:rPr lang="en-GB" dirty="0" err="1"/>
              <a:t>billetterie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par la mise </a:t>
            </a:r>
            <a:r>
              <a:rPr lang="en-GB" dirty="0" err="1"/>
              <a:t>en</a:t>
            </a:r>
            <a:r>
              <a:rPr lang="en-GB" dirty="0"/>
              <a:t> avant </a:t>
            </a:r>
            <a:r>
              <a:rPr lang="en-GB" dirty="0" err="1"/>
              <a:t>d’événements</a:t>
            </a:r>
            <a:r>
              <a:rPr lang="en-GB" dirty="0"/>
              <a:t>.</a:t>
            </a:r>
          </a:p>
          <a:p>
            <a:r>
              <a:rPr lang="en-GB" dirty="0"/>
              <a:t>Les notifications </a:t>
            </a:r>
            <a:r>
              <a:rPr lang="en-GB" dirty="0" err="1"/>
              <a:t>personnalisées</a:t>
            </a:r>
            <a:r>
              <a:rPr lang="en-GB" dirty="0"/>
              <a:t> </a:t>
            </a:r>
            <a:r>
              <a:rPr lang="en-GB" dirty="0" err="1"/>
              <a:t>représentent</a:t>
            </a:r>
            <a:r>
              <a:rPr lang="en-GB" dirty="0"/>
              <a:t> </a:t>
            </a:r>
            <a:r>
              <a:rPr lang="en-GB" dirty="0" err="1"/>
              <a:t>également</a:t>
            </a:r>
            <a:r>
              <a:rPr lang="en-GB" dirty="0"/>
              <a:t> un levier </a:t>
            </a:r>
            <a:r>
              <a:rPr lang="en-GB" dirty="0" err="1"/>
              <a:t>intéressant</a:t>
            </a:r>
            <a:r>
              <a:rPr lang="en-GB" dirty="0"/>
              <a:t> de </a:t>
            </a:r>
            <a:r>
              <a:rPr lang="en-GB" dirty="0" err="1"/>
              <a:t>fidélisation</a:t>
            </a:r>
            <a:r>
              <a:rPr lang="en-GB" dirty="0"/>
              <a:t>, à condition </a:t>
            </a:r>
            <a:r>
              <a:rPr lang="en-GB" dirty="0" err="1"/>
              <a:t>qu’elles</a:t>
            </a:r>
            <a:r>
              <a:rPr lang="en-GB" dirty="0"/>
              <a:t> </a:t>
            </a:r>
            <a:r>
              <a:rPr lang="en-GB" dirty="0" err="1"/>
              <a:t>soient</a:t>
            </a:r>
            <a:r>
              <a:rPr lang="en-GB" dirty="0"/>
              <a:t> bien </a:t>
            </a:r>
            <a:r>
              <a:rPr lang="en-GB" dirty="0" err="1"/>
              <a:t>ciblées</a:t>
            </a:r>
            <a:r>
              <a:rPr lang="en-GB" dirty="0"/>
              <a:t>.</a:t>
            </a:r>
          </a:p>
          <a:p>
            <a:r>
              <a:rPr lang="en-GB" dirty="0" err="1"/>
              <a:t>Cependant</a:t>
            </a:r>
            <a:r>
              <a:rPr lang="en-GB" dirty="0"/>
              <a:t>, </a:t>
            </a:r>
            <a:r>
              <a:rPr lang="en-GB" dirty="0" err="1"/>
              <a:t>plusieurs</a:t>
            </a:r>
            <a:r>
              <a:rPr lang="en-GB" dirty="0"/>
              <a:t> menaces </a:t>
            </a:r>
            <a:r>
              <a:rPr lang="en-GB" dirty="0" err="1"/>
              <a:t>doivent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prises </a:t>
            </a:r>
            <a:r>
              <a:rPr lang="en-GB" dirty="0" err="1"/>
              <a:t>en</a:t>
            </a:r>
            <a:r>
              <a:rPr lang="en-GB" dirty="0"/>
              <a:t> compte.</a:t>
            </a:r>
          </a:p>
          <a:p>
            <a:r>
              <a:rPr lang="en-GB" dirty="0"/>
              <a:t>La plus </a:t>
            </a:r>
            <a:r>
              <a:rPr lang="en-GB" dirty="0" err="1"/>
              <a:t>importante</a:t>
            </a:r>
            <a:r>
              <a:rPr lang="en-GB" dirty="0"/>
              <a:t> est la </a:t>
            </a:r>
            <a:r>
              <a:rPr lang="en-GB" dirty="0" err="1"/>
              <a:t>dépendance</a:t>
            </a:r>
            <a:r>
              <a:rPr lang="en-GB" dirty="0"/>
              <a:t> à des API externes. Si </a:t>
            </a:r>
            <a:r>
              <a:rPr lang="en-GB" dirty="0" err="1"/>
              <a:t>une</a:t>
            </a:r>
            <a:r>
              <a:rPr lang="en-GB" dirty="0"/>
              <a:t> API change </a:t>
            </a:r>
            <a:r>
              <a:rPr lang="en-GB" dirty="0" err="1"/>
              <a:t>ses</a:t>
            </a:r>
            <a:r>
              <a:rPr lang="en-GB" dirty="0"/>
              <a:t> conditions, </a:t>
            </a:r>
            <a:r>
              <a:rPr lang="en-GB" dirty="0" err="1"/>
              <a:t>devient</a:t>
            </a:r>
            <a:r>
              <a:rPr lang="en-GB" dirty="0"/>
              <a:t> </a:t>
            </a:r>
            <a:r>
              <a:rPr lang="en-GB" dirty="0" err="1"/>
              <a:t>payante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cesse</a:t>
            </a:r>
            <a:r>
              <a:rPr lang="en-GB" dirty="0"/>
              <a:t> de </a:t>
            </a:r>
            <a:r>
              <a:rPr lang="en-GB" dirty="0" err="1"/>
              <a:t>fonctionner</a:t>
            </a:r>
            <a:r>
              <a:rPr lang="en-GB" dirty="0"/>
              <a:t>, </a:t>
            </a:r>
            <a:r>
              <a:rPr lang="en-GB" dirty="0" err="1"/>
              <a:t>cela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impacter</a:t>
            </a:r>
            <a:r>
              <a:rPr lang="en-GB" dirty="0"/>
              <a:t> </a:t>
            </a:r>
            <a:r>
              <a:rPr lang="en-GB" dirty="0" err="1"/>
              <a:t>directement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.</a:t>
            </a:r>
          </a:p>
          <a:p>
            <a:r>
              <a:rPr lang="en-GB" dirty="0"/>
              <a:t>La </a:t>
            </a:r>
            <a:r>
              <a:rPr lang="en-GB" dirty="0" err="1"/>
              <a:t>qualité</a:t>
            </a:r>
            <a:r>
              <a:rPr lang="en-GB" dirty="0"/>
              <a:t> variable des données concerts est </a:t>
            </a:r>
            <a:r>
              <a:rPr lang="en-GB" dirty="0" err="1"/>
              <a:t>également</a:t>
            </a:r>
            <a:r>
              <a:rPr lang="en-GB" dirty="0"/>
              <a:t> un </a:t>
            </a:r>
            <a:r>
              <a:rPr lang="en-GB" dirty="0" err="1"/>
              <a:t>risque</a:t>
            </a:r>
            <a:r>
              <a:rPr lang="en-GB" dirty="0"/>
              <a:t> fort. Une application de </a:t>
            </a:r>
            <a:r>
              <a:rPr lang="en-GB" dirty="0" err="1"/>
              <a:t>ce</a:t>
            </a:r>
            <a:r>
              <a:rPr lang="en-GB" dirty="0"/>
              <a:t> type repose sur la </a:t>
            </a:r>
            <a:r>
              <a:rPr lang="en-GB" dirty="0" err="1"/>
              <a:t>confiance</a:t>
            </a:r>
            <a:r>
              <a:rPr lang="en-GB" dirty="0"/>
              <a:t>.</a:t>
            </a:r>
          </a:p>
          <a:p>
            <a:r>
              <a:rPr lang="en-GB" dirty="0"/>
              <a:t>La concurrence est </a:t>
            </a:r>
            <a:r>
              <a:rPr lang="en-GB" dirty="0" err="1"/>
              <a:t>aussi</a:t>
            </a:r>
            <a:r>
              <a:rPr lang="en-GB" dirty="0"/>
              <a:t> </a:t>
            </a:r>
            <a:r>
              <a:rPr lang="en-GB" dirty="0" err="1"/>
              <a:t>présente</a:t>
            </a:r>
            <a:r>
              <a:rPr lang="en-GB" dirty="0"/>
              <a:t>, avec des </a:t>
            </a:r>
            <a:r>
              <a:rPr lang="en-GB" dirty="0" err="1"/>
              <a:t>acteurs</a:t>
            </a:r>
            <a:r>
              <a:rPr lang="en-GB" dirty="0"/>
              <a:t> déjà </a:t>
            </a:r>
            <a:r>
              <a:rPr lang="en-GB" dirty="0" err="1"/>
              <a:t>installés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Bandsintown</a:t>
            </a:r>
            <a:r>
              <a:rPr lang="en-GB" dirty="0"/>
              <a:t>, </a:t>
            </a:r>
            <a:r>
              <a:rPr lang="en-GB" dirty="0" err="1"/>
              <a:t>Songkick</a:t>
            </a:r>
            <a:r>
              <a:rPr lang="en-GB" dirty="0"/>
              <a:t>, Dice, Shotgun </a:t>
            </a:r>
            <a:r>
              <a:rPr lang="en-GB" dirty="0" err="1"/>
              <a:t>ou</a:t>
            </a:r>
            <a:r>
              <a:rPr lang="en-GB" dirty="0"/>
              <a:t> Ticketmaster.</a:t>
            </a:r>
          </a:p>
          <a:p>
            <a:r>
              <a:rPr lang="en-GB" dirty="0" err="1"/>
              <a:t>Enfin</a:t>
            </a:r>
            <a:r>
              <a:rPr lang="en-GB" dirty="0"/>
              <a:t>, les </a:t>
            </a:r>
            <a:r>
              <a:rPr lang="en-GB" dirty="0" err="1"/>
              <a:t>contraintes</a:t>
            </a:r>
            <a:r>
              <a:rPr lang="en-GB" dirty="0"/>
              <a:t> RGPD </a:t>
            </a:r>
            <a:r>
              <a:rPr lang="en-GB" dirty="0" err="1"/>
              <a:t>liées</a:t>
            </a:r>
            <a:r>
              <a:rPr lang="en-GB" dirty="0"/>
              <a:t> à la </a:t>
            </a:r>
            <a:r>
              <a:rPr lang="en-GB" dirty="0" err="1"/>
              <a:t>géolocalisation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positionnement</a:t>
            </a:r>
            <a:r>
              <a:rPr lang="en-GB" dirty="0"/>
              <a:t> </a:t>
            </a:r>
            <a:r>
              <a:rPr lang="en-GB" dirty="0" err="1"/>
              <a:t>recommandé</a:t>
            </a:r>
            <a:r>
              <a:rPr lang="en-GB" dirty="0"/>
              <a:t> est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celui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</a:t>
            </a:r>
            <a:r>
              <a:rPr lang="en-GB" b="1" dirty="0" err="1"/>
              <a:t>proximité</a:t>
            </a:r>
            <a:r>
              <a:rPr lang="en-GB" b="1" dirty="0"/>
              <a:t> </a:t>
            </a:r>
            <a:r>
              <a:rPr lang="en-GB" b="1" dirty="0" err="1"/>
              <a:t>nationale</a:t>
            </a:r>
            <a:r>
              <a:rPr lang="en-GB" dirty="0"/>
              <a:t> : on ne </a:t>
            </a:r>
            <a:r>
              <a:rPr lang="en-GB" dirty="0" err="1"/>
              <a:t>raisonne</a:t>
            </a:r>
            <a:r>
              <a:rPr lang="en-GB" dirty="0"/>
              <a:t> pas </a:t>
            </a:r>
            <a:r>
              <a:rPr lang="en-GB" dirty="0" err="1"/>
              <a:t>seulement</a:t>
            </a:r>
            <a:r>
              <a:rPr lang="en-GB" dirty="0"/>
              <a:t> par </a:t>
            </a:r>
            <a:r>
              <a:rPr lang="en-GB" dirty="0" err="1"/>
              <a:t>ville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département,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autour</a:t>
            </a:r>
            <a:r>
              <a:rPr lang="en-GB" dirty="0"/>
              <a:t> de la position </a:t>
            </a:r>
            <a:r>
              <a:rPr lang="en-GB" dirty="0" err="1"/>
              <a:t>réelle</a:t>
            </a:r>
            <a:r>
              <a:rPr lang="en-GB" dirty="0"/>
              <a:t> de </a:t>
            </a:r>
            <a:r>
              <a:rPr lang="en-GB" dirty="0" err="1"/>
              <a:t>l’utilisateur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démarche </a:t>
            </a:r>
            <a:r>
              <a:rPr lang="en-GB" dirty="0" err="1"/>
              <a:t>d’audit</a:t>
            </a:r>
            <a:r>
              <a:rPr lang="en-GB" dirty="0"/>
              <a:t> a pour </a:t>
            </a:r>
            <a:r>
              <a:rPr lang="en-GB" dirty="0" err="1"/>
              <a:t>objectif</a:t>
            </a:r>
            <a:r>
              <a:rPr lang="en-GB" dirty="0"/>
              <a:t> de </a:t>
            </a:r>
            <a:r>
              <a:rPr lang="en-GB" dirty="0" err="1"/>
              <a:t>sécuriser</a:t>
            </a:r>
            <a:r>
              <a:rPr lang="en-GB" dirty="0"/>
              <a:t> les </a:t>
            </a:r>
            <a:r>
              <a:rPr lang="en-GB" dirty="0" err="1"/>
              <a:t>hypothèses</a:t>
            </a:r>
            <a:r>
              <a:rPr lang="en-GB" dirty="0"/>
              <a:t> avant de </a:t>
            </a:r>
            <a:r>
              <a:rPr lang="en-GB" dirty="0" err="1"/>
              <a:t>choisir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solution technique.</a:t>
            </a:r>
          </a:p>
          <a:p>
            <a:r>
              <a:rPr lang="en-GB" dirty="0"/>
              <a:t>Elle commence par </a:t>
            </a:r>
            <a:r>
              <a:rPr lang="en-GB" dirty="0" err="1"/>
              <a:t>l’analyse</a:t>
            </a:r>
            <a:r>
              <a:rPr lang="en-GB" dirty="0"/>
              <a:t> de la </a:t>
            </a:r>
            <a:r>
              <a:rPr lang="en-GB" dirty="0" err="1"/>
              <a:t>demande</a:t>
            </a:r>
            <a:r>
              <a:rPr lang="en-GB" dirty="0"/>
              <a:t> client : </a:t>
            </a:r>
            <a:r>
              <a:rPr lang="en-GB" dirty="0" err="1"/>
              <a:t>comprendre</a:t>
            </a:r>
            <a:r>
              <a:rPr lang="en-GB" dirty="0"/>
              <a:t> le </a:t>
            </a:r>
            <a:r>
              <a:rPr lang="en-GB" dirty="0" err="1"/>
              <a:t>besoin</a:t>
            </a:r>
            <a:r>
              <a:rPr lang="en-GB" dirty="0"/>
              <a:t>, le </a:t>
            </a:r>
            <a:r>
              <a:rPr lang="en-GB" dirty="0" err="1"/>
              <a:t>périmètre</a:t>
            </a:r>
            <a:r>
              <a:rPr lang="en-GB" dirty="0"/>
              <a:t>, les </a:t>
            </a:r>
            <a:r>
              <a:rPr lang="en-GB" dirty="0" err="1"/>
              <a:t>contraintes</a:t>
            </a:r>
            <a:r>
              <a:rPr lang="en-GB" dirty="0"/>
              <a:t> et les </a:t>
            </a:r>
            <a:r>
              <a:rPr lang="en-GB" dirty="0" err="1"/>
              <a:t>objectifs</a:t>
            </a:r>
            <a:r>
              <a:rPr lang="en-GB" dirty="0"/>
              <a:t> du MVP.</a:t>
            </a:r>
          </a:p>
          <a:p>
            <a:r>
              <a:rPr lang="en-GB" dirty="0"/>
              <a:t>Ensuite, </a:t>
            </a:r>
            <a:r>
              <a:rPr lang="en-GB" dirty="0" err="1"/>
              <a:t>l’audit</a:t>
            </a:r>
            <a:r>
              <a:rPr lang="en-GB" dirty="0"/>
              <a:t> </a:t>
            </a:r>
            <a:r>
              <a:rPr lang="en-GB" dirty="0" err="1"/>
              <a:t>s’intéresse</a:t>
            </a:r>
            <a:r>
              <a:rPr lang="en-GB" dirty="0"/>
              <a:t> aux </a:t>
            </a:r>
            <a:r>
              <a:rPr lang="en-GB" dirty="0" err="1"/>
              <a:t>utilisateurs</a:t>
            </a:r>
            <a:r>
              <a:rPr lang="en-GB" dirty="0"/>
              <a:t> </a:t>
            </a:r>
            <a:r>
              <a:rPr lang="en-GB" dirty="0" err="1"/>
              <a:t>cibles</a:t>
            </a:r>
            <a:r>
              <a:rPr lang="en-GB" dirty="0"/>
              <a:t> : </a:t>
            </a:r>
            <a:r>
              <a:rPr lang="en-GB" dirty="0" err="1"/>
              <a:t>leurs</a:t>
            </a:r>
            <a:r>
              <a:rPr lang="en-GB" dirty="0"/>
              <a:t> usages mobiles, </a:t>
            </a:r>
            <a:r>
              <a:rPr lang="en-GB" dirty="0" err="1"/>
              <a:t>leur</a:t>
            </a:r>
            <a:r>
              <a:rPr lang="en-GB" dirty="0"/>
              <a:t> rapport aux notifications, </a:t>
            </a:r>
            <a:r>
              <a:rPr lang="en-GB" dirty="0" err="1"/>
              <a:t>leur</a:t>
            </a:r>
            <a:r>
              <a:rPr lang="en-GB" dirty="0"/>
              <a:t> </a:t>
            </a:r>
            <a:r>
              <a:rPr lang="en-GB" dirty="0" err="1"/>
              <a:t>besoin</a:t>
            </a:r>
            <a:r>
              <a:rPr lang="en-GB" dirty="0"/>
              <a:t> de </a:t>
            </a:r>
            <a:r>
              <a:rPr lang="en-GB" dirty="0" err="1"/>
              <a:t>personnalisation</a:t>
            </a:r>
            <a:r>
              <a:rPr lang="en-GB" dirty="0"/>
              <a:t> et </a:t>
            </a:r>
            <a:r>
              <a:rPr lang="en-GB" dirty="0" err="1"/>
              <a:t>leur</a:t>
            </a:r>
            <a:r>
              <a:rPr lang="en-GB" dirty="0"/>
              <a:t> </a:t>
            </a:r>
            <a:r>
              <a:rPr lang="en-GB" dirty="0" err="1"/>
              <a:t>tolérance</a:t>
            </a:r>
            <a:r>
              <a:rPr lang="en-GB" dirty="0"/>
              <a:t> vis-à-vis de la </a:t>
            </a:r>
            <a:r>
              <a:rPr lang="en-GB" dirty="0" err="1"/>
              <a:t>géolocalisation</a:t>
            </a:r>
            <a:r>
              <a:rPr lang="en-GB" dirty="0"/>
              <a:t>.</a:t>
            </a:r>
          </a:p>
          <a:p>
            <a:r>
              <a:rPr lang="en-GB" dirty="0"/>
              <a:t>Un benchmark est ensuite </a:t>
            </a:r>
            <a:r>
              <a:rPr lang="en-GB" dirty="0" err="1"/>
              <a:t>réalisé</a:t>
            </a:r>
            <a:r>
              <a:rPr lang="en-GB" dirty="0"/>
              <a:t> sur les solutions </a:t>
            </a:r>
            <a:r>
              <a:rPr lang="en-GB" dirty="0" err="1"/>
              <a:t>existantes</a:t>
            </a:r>
            <a:r>
              <a:rPr lang="en-GB" dirty="0"/>
              <a:t>, </a:t>
            </a:r>
            <a:r>
              <a:rPr lang="en-GB" dirty="0" err="1"/>
              <a:t>afin</a:t>
            </a:r>
            <a:r>
              <a:rPr lang="en-GB" dirty="0"/>
              <a:t> </a:t>
            </a:r>
            <a:r>
              <a:rPr lang="en-GB" dirty="0" err="1"/>
              <a:t>d’identifier</a:t>
            </a:r>
            <a:r>
              <a:rPr lang="en-GB" dirty="0"/>
              <a:t> les </a:t>
            </a:r>
            <a:r>
              <a:rPr lang="en-GB" dirty="0" err="1"/>
              <a:t>fonctionnalités</a:t>
            </a:r>
            <a:r>
              <a:rPr lang="en-GB" dirty="0"/>
              <a:t> standards du </a:t>
            </a:r>
            <a:r>
              <a:rPr lang="en-GB" dirty="0" err="1"/>
              <a:t>marché</a:t>
            </a:r>
            <a:r>
              <a:rPr lang="en-GB" dirty="0"/>
              <a:t> et les points de </a:t>
            </a:r>
            <a:r>
              <a:rPr lang="en-GB" dirty="0" err="1"/>
              <a:t>différenciation</a:t>
            </a:r>
            <a:r>
              <a:rPr lang="en-GB" dirty="0"/>
              <a:t> possibles.</a:t>
            </a:r>
          </a:p>
          <a:p>
            <a:r>
              <a:rPr lang="en-GB" dirty="0" err="1"/>
              <a:t>L’audit</a:t>
            </a:r>
            <a:r>
              <a:rPr lang="en-GB" dirty="0"/>
              <a:t> technique </a:t>
            </a:r>
            <a:r>
              <a:rPr lang="en-GB" dirty="0" err="1"/>
              <a:t>porte</a:t>
            </a:r>
            <a:r>
              <a:rPr lang="en-GB" dirty="0"/>
              <a:t> sur les API </a:t>
            </a:r>
            <a:r>
              <a:rPr lang="en-GB" dirty="0" err="1"/>
              <a:t>d’événements</a:t>
            </a:r>
            <a:r>
              <a:rPr lang="en-GB" dirty="0"/>
              <a:t>, les frameworks mobiles, les bases de données </a:t>
            </a:r>
            <a:r>
              <a:rPr lang="en-GB" dirty="0" err="1"/>
              <a:t>géographiques</a:t>
            </a:r>
            <a:r>
              <a:rPr lang="en-GB" dirty="0"/>
              <a:t>, les notifications push et </a:t>
            </a:r>
            <a:r>
              <a:rPr lang="en-GB" dirty="0" err="1"/>
              <a:t>l’hébergement</a:t>
            </a:r>
            <a:r>
              <a:rPr lang="en-GB" dirty="0"/>
              <a:t>.</a:t>
            </a:r>
          </a:p>
          <a:p>
            <a:r>
              <a:rPr lang="en-GB" dirty="0" err="1"/>
              <a:t>L’audit</a:t>
            </a:r>
            <a:r>
              <a:rPr lang="en-GB" dirty="0"/>
              <a:t> </a:t>
            </a:r>
            <a:r>
              <a:rPr lang="en-GB" dirty="0" err="1"/>
              <a:t>réglementaire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d’anticiper</a:t>
            </a:r>
            <a:r>
              <a:rPr lang="en-GB" dirty="0"/>
              <a:t> les </a:t>
            </a:r>
            <a:r>
              <a:rPr lang="en-GB" dirty="0" err="1"/>
              <a:t>contraintes</a:t>
            </a:r>
            <a:r>
              <a:rPr lang="en-GB" dirty="0"/>
              <a:t> RGPD, </a:t>
            </a:r>
            <a:r>
              <a:rPr lang="en-GB" dirty="0" err="1"/>
              <a:t>notamment</a:t>
            </a:r>
            <a:r>
              <a:rPr lang="en-GB" dirty="0"/>
              <a:t> sur le </a:t>
            </a:r>
            <a:r>
              <a:rPr lang="en-GB" dirty="0" err="1"/>
              <a:t>consentement</a:t>
            </a:r>
            <a:r>
              <a:rPr lang="en-GB" dirty="0"/>
              <a:t>, la minimisation des données et la suppression de compte.</a:t>
            </a:r>
          </a:p>
          <a:p>
            <a:r>
              <a:rPr lang="en-GB" dirty="0" err="1"/>
              <a:t>Concernant</a:t>
            </a:r>
            <a:r>
              <a:rPr lang="en-GB" dirty="0"/>
              <a:t> le diagnostic de </a:t>
            </a:r>
            <a:r>
              <a:rPr lang="en-GB" dirty="0" err="1"/>
              <a:t>l’existant</a:t>
            </a:r>
            <a:r>
              <a:rPr lang="en-GB" dirty="0"/>
              <a:t>, le client </a:t>
            </a:r>
            <a:r>
              <a:rPr lang="en-GB" dirty="0" err="1"/>
              <a:t>fictif</a:t>
            </a:r>
            <a:r>
              <a:rPr lang="en-GB" dirty="0"/>
              <a:t> ne dispose pas encore </a:t>
            </a:r>
            <a:r>
              <a:rPr lang="en-GB" dirty="0" err="1"/>
              <a:t>d’application</a:t>
            </a:r>
            <a:r>
              <a:rPr lang="en-GB" dirty="0"/>
              <a:t> mobile, </a:t>
            </a:r>
            <a:r>
              <a:rPr lang="en-GB" dirty="0" err="1"/>
              <a:t>ni</a:t>
            </a:r>
            <a:r>
              <a:rPr lang="en-GB" dirty="0"/>
              <a:t> de backend, </a:t>
            </a:r>
            <a:r>
              <a:rPr lang="en-GB" dirty="0" err="1"/>
              <a:t>ni</a:t>
            </a:r>
            <a:r>
              <a:rPr lang="en-GB" dirty="0"/>
              <a:t> de base de données concerts </a:t>
            </a:r>
            <a:r>
              <a:rPr lang="en-GB" dirty="0" err="1"/>
              <a:t>centralisée</a:t>
            </a:r>
            <a:r>
              <a:rPr lang="en-GB" dirty="0"/>
              <a:t>. Le site vitrine </a:t>
            </a:r>
            <a:r>
              <a:rPr lang="en-GB" dirty="0" err="1"/>
              <a:t>existe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apporte</a:t>
            </a:r>
            <a:r>
              <a:rPr lang="en-GB" dirty="0"/>
              <a:t> peu de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fonctionnelle</a:t>
            </a:r>
            <a:r>
              <a:rPr lang="en-GB" dirty="0"/>
              <a:t>.</a:t>
            </a:r>
          </a:p>
          <a:p>
            <a:r>
              <a:rPr lang="en-GB" dirty="0"/>
              <a:t>On part 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quasiment</a:t>
            </a:r>
            <a:r>
              <a:rPr lang="en-GB" dirty="0"/>
              <a:t> de </a:t>
            </a:r>
            <a:r>
              <a:rPr lang="en-GB" dirty="0" err="1"/>
              <a:t>zéro</a:t>
            </a:r>
            <a:r>
              <a:rPr lang="en-GB" dirty="0"/>
              <a:t>. </a:t>
            </a:r>
            <a:r>
              <a:rPr lang="en-GB" dirty="0" err="1"/>
              <a:t>C’est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contrainte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opportunité</a:t>
            </a:r>
            <a:r>
              <a:rPr lang="en-GB" dirty="0"/>
              <a:t>, car </a:t>
            </a:r>
            <a:r>
              <a:rPr lang="en-GB" dirty="0" err="1"/>
              <a:t>cela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concevoir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architecture propre </a:t>
            </a:r>
            <a:r>
              <a:rPr lang="en-GB" dirty="0" err="1"/>
              <a:t>dès</a:t>
            </a:r>
            <a:r>
              <a:rPr lang="en-GB" dirty="0"/>
              <a:t> le </a:t>
            </a:r>
            <a:r>
              <a:rPr lang="en-GB" dirty="0" err="1"/>
              <a:t>départ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Cette slide </a:t>
            </a:r>
            <a:r>
              <a:rPr lang="en-GB" dirty="0" err="1"/>
              <a:t>présente</a:t>
            </a:r>
            <a:r>
              <a:rPr lang="en-GB" dirty="0"/>
              <a:t> les </a:t>
            </a:r>
            <a:r>
              <a:rPr lang="en-GB" dirty="0" err="1"/>
              <a:t>risques</a:t>
            </a:r>
            <a:r>
              <a:rPr lang="en-GB" dirty="0"/>
              <a:t> </a:t>
            </a:r>
            <a:r>
              <a:rPr lang="en-GB" dirty="0" err="1"/>
              <a:t>prioritaires</a:t>
            </a:r>
            <a:r>
              <a:rPr lang="en-GB" dirty="0"/>
              <a:t> du </a:t>
            </a:r>
            <a:r>
              <a:rPr lang="en-GB" dirty="0" err="1"/>
              <a:t>projet</a:t>
            </a:r>
            <a:r>
              <a:rPr lang="en-GB" dirty="0"/>
              <a:t>.</a:t>
            </a:r>
          </a:p>
          <a:p>
            <a:r>
              <a:rPr lang="en-GB" dirty="0"/>
              <a:t>Le premier </a:t>
            </a:r>
            <a:r>
              <a:rPr lang="en-GB" dirty="0" err="1"/>
              <a:t>risque</a:t>
            </a:r>
            <a:r>
              <a:rPr lang="en-GB" dirty="0"/>
              <a:t> </a:t>
            </a:r>
            <a:r>
              <a:rPr lang="en-GB" dirty="0" err="1"/>
              <a:t>concerne</a:t>
            </a:r>
            <a:r>
              <a:rPr lang="en-GB" dirty="0"/>
              <a:t> les données concerts </a:t>
            </a:r>
            <a:r>
              <a:rPr lang="en-GB" dirty="0" err="1"/>
              <a:t>incorrectes</a:t>
            </a:r>
            <a:r>
              <a:rPr lang="en-GB" dirty="0"/>
              <a:t>. </a:t>
            </a:r>
            <a:r>
              <a:rPr lang="en-GB" dirty="0" err="1"/>
              <a:t>C’est</a:t>
            </a:r>
            <a:r>
              <a:rPr lang="en-GB" dirty="0"/>
              <a:t> un </a:t>
            </a:r>
            <a:r>
              <a:rPr lang="en-GB" dirty="0" err="1"/>
              <a:t>risque</a:t>
            </a:r>
            <a:r>
              <a:rPr lang="en-GB" dirty="0"/>
              <a:t> critique, car </a:t>
            </a:r>
            <a:r>
              <a:rPr lang="en-GB" dirty="0" err="1"/>
              <a:t>l’application</a:t>
            </a:r>
            <a:r>
              <a:rPr lang="en-GB" dirty="0"/>
              <a:t> repose </a:t>
            </a:r>
            <a:r>
              <a:rPr lang="en-GB" dirty="0" err="1"/>
              <a:t>directement</a:t>
            </a:r>
            <a:r>
              <a:rPr lang="en-GB" dirty="0"/>
              <a:t> sur la </a:t>
            </a:r>
            <a:r>
              <a:rPr lang="en-GB" dirty="0" err="1"/>
              <a:t>fiabilité</a:t>
            </a:r>
            <a:r>
              <a:rPr lang="en-GB" dirty="0"/>
              <a:t> de </a:t>
            </a:r>
            <a:r>
              <a:rPr lang="en-GB" dirty="0" err="1"/>
              <a:t>l’information</a:t>
            </a:r>
            <a:r>
              <a:rPr lang="en-GB" dirty="0"/>
              <a:t>. Pour le </a:t>
            </a:r>
            <a:r>
              <a:rPr lang="en-GB" dirty="0" err="1"/>
              <a:t>réduire</a:t>
            </a:r>
            <a:r>
              <a:rPr lang="en-GB" dirty="0"/>
              <a:t>, il faut </a:t>
            </a:r>
            <a:r>
              <a:rPr lang="en-GB" dirty="0" err="1"/>
              <a:t>privilégier</a:t>
            </a:r>
            <a:r>
              <a:rPr lang="en-GB" dirty="0"/>
              <a:t> les sources </a:t>
            </a:r>
            <a:r>
              <a:rPr lang="en-GB" dirty="0" err="1"/>
              <a:t>officielles</a:t>
            </a:r>
            <a:r>
              <a:rPr lang="en-GB" dirty="0"/>
              <a:t>, </a:t>
            </a:r>
            <a:r>
              <a:rPr lang="en-GB" dirty="0" err="1"/>
              <a:t>prévoir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modération</a:t>
            </a:r>
            <a:r>
              <a:rPr lang="en-GB" dirty="0"/>
              <a:t> et </a:t>
            </a:r>
            <a:r>
              <a:rPr lang="en-GB" dirty="0" err="1"/>
              <a:t>permettre</a:t>
            </a:r>
            <a:r>
              <a:rPr lang="en-GB" dirty="0"/>
              <a:t> aux </a:t>
            </a:r>
            <a:r>
              <a:rPr lang="en-GB" dirty="0" err="1"/>
              <a:t>utilisateurs</a:t>
            </a:r>
            <a:r>
              <a:rPr lang="en-GB" dirty="0"/>
              <a:t> de </a:t>
            </a:r>
            <a:r>
              <a:rPr lang="en-GB" dirty="0" err="1"/>
              <a:t>signaler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erreur</a:t>
            </a:r>
            <a:r>
              <a:rPr lang="en-GB" dirty="0"/>
              <a:t>.</a:t>
            </a:r>
          </a:p>
          <a:p>
            <a:r>
              <a:rPr lang="en-GB" dirty="0"/>
              <a:t>Le deuxième </a:t>
            </a:r>
            <a:r>
              <a:rPr lang="en-GB" dirty="0" err="1"/>
              <a:t>risque</a:t>
            </a:r>
            <a:r>
              <a:rPr lang="en-GB" dirty="0"/>
              <a:t> </a:t>
            </a:r>
            <a:r>
              <a:rPr lang="en-GB" dirty="0" err="1"/>
              <a:t>concerne</a:t>
            </a:r>
            <a:r>
              <a:rPr lang="en-GB" dirty="0"/>
              <a:t> la </a:t>
            </a:r>
            <a:r>
              <a:rPr lang="en-GB" dirty="0" err="1"/>
              <a:t>géolocalisation</a:t>
            </a:r>
            <a:r>
              <a:rPr lang="en-GB" dirty="0"/>
              <a:t> et le RGPD. </a:t>
            </a:r>
            <a:r>
              <a:rPr lang="en-GB" dirty="0" err="1"/>
              <a:t>L’application</a:t>
            </a:r>
            <a:r>
              <a:rPr lang="en-GB" dirty="0"/>
              <a:t> doit demander un </a:t>
            </a:r>
            <a:r>
              <a:rPr lang="en-GB" dirty="0" err="1"/>
              <a:t>consentement</a:t>
            </a:r>
            <a:r>
              <a:rPr lang="en-GB" dirty="0"/>
              <a:t> </a:t>
            </a:r>
            <a:r>
              <a:rPr lang="en-GB" dirty="0" err="1"/>
              <a:t>clair</a:t>
            </a:r>
            <a:r>
              <a:rPr lang="en-GB" dirty="0"/>
              <a:t>, </a:t>
            </a:r>
            <a:r>
              <a:rPr lang="en-GB" dirty="0" err="1"/>
              <a:t>expliquer</a:t>
            </a:r>
            <a:r>
              <a:rPr lang="en-GB" dirty="0"/>
              <a:t> </a:t>
            </a:r>
            <a:r>
              <a:rPr lang="en-GB" dirty="0" err="1"/>
              <a:t>l’usage</a:t>
            </a:r>
            <a:r>
              <a:rPr lang="en-GB" dirty="0"/>
              <a:t> des données et proposer </a:t>
            </a:r>
            <a:r>
              <a:rPr lang="en-GB" dirty="0" err="1"/>
              <a:t>une</a:t>
            </a:r>
            <a:r>
              <a:rPr lang="en-GB" dirty="0"/>
              <a:t> alternative à la </a:t>
            </a:r>
            <a:r>
              <a:rPr lang="en-GB" dirty="0" err="1"/>
              <a:t>géolocalisation</a:t>
            </a:r>
            <a:r>
              <a:rPr lang="en-GB" dirty="0"/>
              <a:t> GPS, par </a:t>
            </a:r>
            <a:r>
              <a:rPr lang="en-GB" dirty="0" err="1"/>
              <a:t>exemple</a:t>
            </a:r>
            <a:r>
              <a:rPr lang="en-GB" dirty="0"/>
              <a:t> avec un choix </a:t>
            </a:r>
            <a:r>
              <a:rPr lang="en-GB" dirty="0" err="1"/>
              <a:t>manuel</a:t>
            </a:r>
            <a:r>
              <a:rPr lang="en-GB" dirty="0"/>
              <a:t> de </a:t>
            </a:r>
            <a:r>
              <a:rPr lang="en-GB" dirty="0" err="1"/>
              <a:t>ville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risque</a:t>
            </a:r>
            <a:r>
              <a:rPr lang="en-GB" dirty="0"/>
              <a:t> est la </a:t>
            </a:r>
            <a:r>
              <a:rPr lang="en-GB" dirty="0" err="1"/>
              <a:t>faible</a:t>
            </a:r>
            <a:r>
              <a:rPr lang="en-GB" dirty="0"/>
              <a:t> adoption </a:t>
            </a:r>
            <a:r>
              <a:rPr lang="en-GB" dirty="0" err="1"/>
              <a:t>utilisateur</a:t>
            </a:r>
            <a:r>
              <a:rPr lang="en-GB" dirty="0"/>
              <a:t>. </a:t>
            </a:r>
            <a:r>
              <a:rPr lang="en-GB" dirty="0" err="1"/>
              <a:t>Même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 est </a:t>
            </a:r>
            <a:r>
              <a:rPr lang="en-GB" dirty="0" err="1"/>
              <a:t>techniquement</a:t>
            </a:r>
            <a:r>
              <a:rPr lang="en-GB" dirty="0"/>
              <a:t> </a:t>
            </a:r>
            <a:r>
              <a:rPr lang="en-GB" dirty="0" err="1"/>
              <a:t>réussie</a:t>
            </a:r>
            <a:r>
              <a:rPr lang="en-GB" dirty="0"/>
              <a:t>, </a:t>
            </a:r>
            <a:r>
              <a:rPr lang="en-GB" dirty="0" err="1"/>
              <a:t>elle</a:t>
            </a:r>
            <a:r>
              <a:rPr lang="en-GB" dirty="0"/>
              <a:t> doit proposer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vraie</a:t>
            </a:r>
            <a:r>
              <a:rPr lang="en-GB" dirty="0"/>
              <a:t>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d’usage</a:t>
            </a:r>
            <a:r>
              <a:rPr lang="en-GB" dirty="0"/>
              <a:t>. Cela passe par </a:t>
            </a:r>
            <a:r>
              <a:rPr lang="en-GB" dirty="0" err="1"/>
              <a:t>une</a:t>
            </a:r>
            <a:r>
              <a:rPr lang="en-GB" dirty="0"/>
              <a:t> UX simple, des </a:t>
            </a:r>
            <a:r>
              <a:rPr lang="en-GB" dirty="0" err="1"/>
              <a:t>filtres</a:t>
            </a:r>
            <a:r>
              <a:rPr lang="en-GB" dirty="0"/>
              <a:t> </a:t>
            </a:r>
            <a:r>
              <a:rPr lang="en-GB" dirty="0" err="1"/>
              <a:t>utiles</a:t>
            </a:r>
            <a:r>
              <a:rPr lang="en-GB" dirty="0"/>
              <a:t>, des notifications </a:t>
            </a:r>
            <a:r>
              <a:rPr lang="en-GB" dirty="0" err="1"/>
              <a:t>pertinentes</a:t>
            </a:r>
            <a:r>
              <a:rPr lang="en-GB" dirty="0"/>
              <a:t> et des </a:t>
            </a:r>
            <a:r>
              <a:rPr lang="en-GB" dirty="0" err="1"/>
              <a:t>partenariats</a:t>
            </a:r>
            <a:r>
              <a:rPr lang="en-GB" dirty="0"/>
              <a:t> </a:t>
            </a:r>
            <a:r>
              <a:rPr lang="en-GB" dirty="0" err="1"/>
              <a:t>visibles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quatrième</a:t>
            </a:r>
            <a:r>
              <a:rPr lang="en-GB" dirty="0"/>
              <a:t> </a:t>
            </a:r>
            <a:r>
              <a:rPr lang="en-GB" dirty="0" err="1"/>
              <a:t>risque</a:t>
            </a:r>
            <a:r>
              <a:rPr lang="en-GB" dirty="0"/>
              <a:t> est la </a:t>
            </a:r>
            <a:r>
              <a:rPr lang="en-GB" dirty="0" err="1"/>
              <a:t>dépendance</a:t>
            </a:r>
            <a:r>
              <a:rPr lang="en-GB" dirty="0"/>
              <a:t> aux API externes. Pour le limiter, il faut </a:t>
            </a:r>
            <a:r>
              <a:rPr lang="en-GB" dirty="0" err="1"/>
              <a:t>mettre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place un cache local, normaliser les données et </a:t>
            </a:r>
            <a:r>
              <a:rPr lang="en-GB" dirty="0" err="1"/>
              <a:t>prévoir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stratégie</a:t>
            </a:r>
            <a:r>
              <a:rPr lang="en-GB" dirty="0"/>
              <a:t> multi-sources.</a:t>
            </a:r>
          </a:p>
          <a:p>
            <a:r>
              <a:rPr lang="en-GB" dirty="0"/>
              <a:t>Cette </a:t>
            </a:r>
            <a:r>
              <a:rPr lang="en-GB" dirty="0" err="1"/>
              <a:t>cartographie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prioriser</a:t>
            </a:r>
            <a:r>
              <a:rPr lang="en-GB" dirty="0"/>
              <a:t> les actions </a:t>
            </a:r>
            <a:r>
              <a:rPr lang="en-GB" dirty="0" err="1"/>
              <a:t>dès</a:t>
            </a:r>
            <a:r>
              <a:rPr lang="en-GB" dirty="0"/>
              <a:t> le </a:t>
            </a:r>
            <a:r>
              <a:rPr lang="en-GB" dirty="0" err="1"/>
              <a:t>cadrage</a:t>
            </a:r>
            <a:r>
              <a:rPr lang="en-GB" dirty="0"/>
              <a:t> </a:t>
            </a:r>
            <a:r>
              <a:rPr lang="en-GB" dirty="0" err="1"/>
              <a:t>plutôt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de </a:t>
            </a:r>
            <a:r>
              <a:rPr lang="en-GB" dirty="0" err="1"/>
              <a:t>subir</a:t>
            </a:r>
            <a:r>
              <a:rPr lang="en-GB" dirty="0"/>
              <a:t>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problèmes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phase de </a:t>
            </a:r>
            <a:r>
              <a:rPr lang="en-GB" dirty="0" err="1"/>
              <a:t>développement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pilotage du </a:t>
            </a:r>
            <a:r>
              <a:rPr lang="en-GB" dirty="0" err="1"/>
              <a:t>projet</a:t>
            </a:r>
            <a:r>
              <a:rPr lang="en-GB" dirty="0"/>
              <a:t>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mesurable</a:t>
            </a:r>
            <a:r>
              <a:rPr lang="en-GB" dirty="0"/>
              <a:t>. Pour </a:t>
            </a:r>
            <a:r>
              <a:rPr lang="en-GB" dirty="0" err="1"/>
              <a:t>cela</a:t>
            </a:r>
            <a:r>
              <a:rPr lang="en-GB" dirty="0"/>
              <a:t>, on utilise un </a:t>
            </a:r>
            <a:r>
              <a:rPr lang="en-GB" dirty="0" err="1"/>
              <a:t>référentiel</a:t>
            </a:r>
            <a:r>
              <a:rPr lang="en-GB" dirty="0"/>
              <a:t> </a:t>
            </a:r>
            <a:r>
              <a:rPr lang="en-GB" dirty="0" err="1"/>
              <a:t>basé</a:t>
            </a:r>
            <a:r>
              <a:rPr lang="en-GB" dirty="0"/>
              <a:t> sur la </a:t>
            </a:r>
            <a:r>
              <a:rPr lang="en-GB" dirty="0" err="1"/>
              <a:t>criticité</a:t>
            </a:r>
            <a:r>
              <a:rPr lang="en-GB" dirty="0"/>
              <a:t>.</a:t>
            </a:r>
          </a:p>
          <a:p>
            <a:r>
              <a:rPr lang="en-GB" dirty="0"/>
              <a:t>La </a:t>
            </a:r>
            <a:r>
              <a:rPr lang="en-GB" dirty="0" err="1"/>
              <a:t>criticité</a:t>
            </a:r>
            <a:r>
              <a:rPr lang="en-GB" dirty="0"/>
              <a:t> est </a:t>
            </a:r>
            <a:r>
              <a:rPr lang="en-GB" dirty="0" err="1"/>
              <a:t>calculée</a:t>
            </a:r>
            <a:r>
              <a:rPr lang="en-GB" dirty="0"/>
              <a:t> avec la </a:t>
            </a:r>
            <a:r>
              <a:rPr lang="en-GB" dirty="0" err="1"/>
              <a:t>formule</a:t>
            </a:r>
            <a:r>
              <a:rPr lang="en-GB" dirty="0"/>
              <a:t> : </a:t>
            </a:r>
            <a:r>
              <a:rPr lang="en-GB" b="1" dirty="0" err="1"/>
              <a:t>probabilité</a:t>
            </a:r>
            <a:r>
              <a:rPr lang="en-GB" b="1" dirty="0"/>
              <a:t> </a:t>
            </a:r>
            <a:r>
              <a:rPr lang="en-GB" b="1" dirty="0" err="1"/>
              <a:t>multipliée</a:t>
            </a:r>
            <a:r>
              <a:rPr lang="en-GB" b="1" dirty="0"/>
              <a:t> par impact</a:t>
            </a:r>
            <a:r>
              <a:rPr lang="en-GB" dirty="0"/>
              <a:t>.</a:t>
            </a:r>
          </a:p>
          <a:p>
            <a:r>
              <a:rPr lang="en-GB" dirty="0"/>
              <a:t>Un </a:t>
            </a:r>
            <a:r>
              <a:rPr lang="en-GB" dirty="0" err="1"/>
              <a:t>risque</a:t>
            </a:r>
            <a:r>
              <a:rPr lang="en-GB" dirty="0"/>
              <a:t> de 1 à 5 est </a:t>
            </a:r>
            <a:r>
              <a:rPr lang="en-GB" dirty="0" err="1"/>
              <a:t>considéré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faible</a:t>
            </a:r>
            <a:r>
              <a:rPr lang="en-GB" dirty="0"/>
              <a:t> et doit </a:t>
            </a:r>
            <a:r>
              <a:rPr lang="en-GB" dirty="0" err="1"/>
              <a:t>simplement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surveillé</a:t>
            </a:r>
            <a:r>
              <a:rPr lang="en-GB" dirty="0"/>
              <a:t>.</a:t>
            </a:r>
          </a:p>
          <a:p>
            <a:r>
              <a:rPr lang="en-GB" dirty="0"/>
              <a:t>Un </a:t>
            </a:r>
            <a:r>
              <a:rPr lang="en-GB" dirty="0" err="1"/>
              <a:t>risque</a:t>
            </a:r>
            <a:r>
              <a:rPr lang="en-GB" dirty="0"/>
              <a:t> de 6 à 10 </a:t>
            </a:r>
            <a:r>
              <a:rPr lang="en-GB" dirty="0" err="1"/>
              <a:t>nécessite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action </a:t>
            </a:r>
            <a:r>
              <a:rPr lang="en-GB" dirty="0" err="1"/>
              <a:t>préventive</a:t>
            </a:r>
            <a:r>
              <a:rPr lang="en-GB" dirty="0"/>
              <a:t>.</a:t>
            </a:r>
          </a:p>
          <a:p>
            <a:r>
              <a:rPr lang="en-GB" dirty="0"/>
              <a:t>Un </a:t>
            </a:r>
            <a:r>
              <a:rPr lang="en-GB" dirty="0" err="1"/>
              <a:t>risque</a:t>
            </a:r>
            <a:r>
              <a:rPr lang="en-GB" dirty="0"/>
              <a:t> de 11 à 15 </a:t>
            </a:r>
            <a:r>
              <a:rPr lang="en-GB" dirty="0" err="1"/>
              <a:t>devient</a:t>
            </a:r>
            <a:r>
              <a:rPr lang="en-GB" dirty="0"/>
              <a:t> </a:t>
            </a:r>
            <a:r>
              <a:rPr lang="en-GB" dirty="0" err="1"/>
              <a:t>élevé</a:t>
            </a:r>
            <a:r>
              <a:rPr lang="en-GB" dirty="0"/>
              <a:t> et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suivi</a:t>
            </a:r>
            <a:r>
              <a:rPr lang="en-GB" dirty="0"/>
              <a:t> </a:t>
            </a:r>
            <a:r>
              <a:rPr lang="en-GB" dirty="0" err="1"/>
              <a:t>régulièrement</a:t>
            </a:r>
            <a:r>
              <a:rPr lang="en-GB" dirty="0"/>
              <a:t>.</a:t>
            </a:r>
          </a:p>
          <a:p>
            <a:r>
              <a:rPr lang="en-GB" dirty="0" err="1"/>
              <a:t>Enfin</a:t>
            </a:r>
            <a:r>
              <a:rPr lang="en-GB" dirty="0"/>
              <a:t>, un </a:t>
            </a:r>
            <a:r>
              <a:rPr lang="en-GB" dirty="0" err="1"/>
              <a:t>risque</a:t>
            </a:r>
            <a:r>
              <a:rPr lang="en-GB" dirty="0"/>
              <a:t> de 16 à 25 est critique et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traité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priorité</a:t>
            </a:r>
            <a:r>
              <a:rPr lang="en-GB" dirty="0"/>
              <a:t>.</a:t>
            </a:r>
          </a:p>
          <a:p>
            <a:r>
              <a:rPr lang="en-GB" dirty="0"/>
              <a:t>Pour le </a:t>
            </a:r>
            <a:r>
              <a:rPr lang="en-GB" dirty="0" err="1"/>
              <a:t>suivi</a:t>
            </a:r>
            <a:r>
              <a:rPr lang="en-GB" dirty="0"/>
              <a:t> des incidents,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problème</a:t>
            </a:r>
            <a:r>
              <a:rPr lang="en-GB" dirty="0"/>
              <a:t>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enregistré</a:t>
            </a:r>
            <a:r>
              <a:rPr lang="en-GB" dirty="0"/>
              <a:t> avec un </a:t>
            </a:r>
            <a:r>
              <a:rPr lang="en-GB" dirty="0" err="1"/>
              <a:t>identifiant</a:t>
            </a:r>
            <a:r>
              <a:rPr lang="en-GB" dirty="0"/>
              <a:t>, </a:t>
            </a:r>
            <a:r>
              <a:rPr lang="en-GB" dirty="0" err="1"/>
              <a:t>une</a:t>
            </a:r>
            <a:r>
              <a:rPr lang="en-GB" dirty="0"/>
              <a:t> date, </a:t>
            </a:r>
            <a:r>
              <a:rPr lang="en-GB" dirty="0" err="1"/>
              <a:t>une</a:t>
            </a:r>
            <a:r>
              <a:rPr lang="en-GB" dirty="0"/>
              <a:t> version de </a:t>
            </a:r>
            <a:r>
              <a:rPr lang="en-GB" dirty="0" err="1"/>
              <a:t>l’application</a:t>
            </a:r>
            <a:r>
              <a:rPr lang="en-GB" dirty="0"/>
              <a:t>, le module </a:t>
            </a:r>
            <a:r>
              <a:rPr lang="en-GB" dirty="0" err="1"/>
              <a:t>concerné</a:t>
            </a:r>
            <a:r>
              <a:rPr lang="en-GB" dirty="0"/>
              <a:t>, la </a:t>
            </a:r>
            <a:r>
              <a:rPr lang="en-GB" dirty="0" err="1"/>
              <a:t>gravité</a:t>
            </a:r>
            <a:r>
              <a:rPr lang="en-GB" dirty="0"/>
              <a:t>, le </a:t>
            </a:r>
            <a:r>
              <a:rPr lang="en-GB" dirty="0" err="1"/>
              <a:t>responsable</a:t>
            </a:r>
            <a:r>
              <a:rPr lang="en-GB" dirty="0"/>
              <a:t>, le </a:t>
            </a:r>
            <a:r>
              <a:rPr lang="en-GB" dirty="0" err="1"/>
              <a:t>statut</a:t>
            </a:r>
            <a:r>
              <a:rPr lang="en-GB" dirty="0"/>
              <a:t>, la cause </a:t>
            </a:r>
            <a:r>
              <a:rPr lang="en-GB" dirty="0" err="1"/>
              <a:t>racine</a:t>
            </a:r>
            <a:r>
              <a:rPr lang="en-GB" dirty="0"/>
              <a:t>, le </a:t>
            </a:r>
            <a:r>
              <a:rPr lang="en-GB" dirty="0" err="1"/>
              <a:t>correctif</a:t>
            </a:r>
            <a:r>
              <a:rPr lang="en-GB" dirty="0"/>
              <a:t> et </a:t>
            </a:r>
            <a:r>
              <a:rPr lang="en-GB" dirty="0" err="1"/>
              <a:t>l’action</a:t>
            </a:r>
            <a:r>
              <a:rPr lang="en-GB" dirty="0"/>
              <a:t> </a:t>
            </a:r>
            <a:r>
              <a:rPr lang="en-GB" dirty="0" err="1"/>
              <a:t>préventive</a:t>
            </a:r>
            <a:r>
              <a:rPr lang="en-GB" dirty="0"/>
              <a:t>.</a:t>
            </a:r>
          </a:p>
          <a:p>
            <a:r>
              <a:rPr lang="en-GB" dirty="0"/>
              <a:t>Des </a:t>
            </a:r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Jira Service Management </a:t>
            </a:r>
            <a:r>
              <a:rPr lang="en-GB" dirty="0" err="1"/>
              <a:t>ou</a:t>
            </a:r>
            <a:r>
              <a:rPr lang="en-GB" dirty="0"/>
              <a:t> GitHub Issues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suffire</a:t>
            </a:r>
            <a:r>
              <a:rPr lang="en-GB" dirty="0"/>
              <a:t> pour un MVP.</a:t>
            </a:r>
          </a:p>
          <a:p>
            <a:r>
              <a:rPr lang="en-GB" dirty="0"/>
              <a:t>Les </a:t>
            </a:r>
            <a:r>
              <a:rPr lang="en-GB" dirty="0" err="1"/>
              <a:t>indicateurs</a:t>
            </a:r>
            <a:r>
              <a:rPr lang="en-GB" dirty="0"/>
              <a:t> </a:t>
            </a:r>
            <a:r>
              <a:rPr lang="en-GB" dirty="0" err="1"/>
              <a:t>proposés</a:t>
            </a:r>
            <a:r>
              <a:rPr lang="en-GB" dirty="0"/>
              <a:t> </a:t>
            </a:r>
            <a:r>
              <a:rPr lang="en-GB" dirty="0" err="1"/>
              <a:t>permettent</a:t>
            </a:r>
            <a:r>
              <a:rPr lang="en-GB" dirty="0"/>
              <a:t> de </a:t>
            </a:r>
            <a:r>
              <a:rPr lang="en-GB" dirty="0" err="1"/>
              <a:t>suivre</a:t>
            </a:r>
            <a:r>
              <a:rPr lang="en-GB" dirty="0"/>
              <a:t> la </a:t>
            </a:r>
            <a:r>
              <a:rPr lang="en-GB" dirty="0" err="1"/>
              <a:t>qualité</a:t>
            </a:r>
            <a:r>
              <a:rPr lang="en-GB" dirty="0"/>
              <a:t> technique et </a:t>
            </a:r>
            <a:r>
              <a:rPr lang="en-GB" dirty="0" err="1"/>
              <a:t>fonctionnelle</a:t>
            </a:r>
            <a:r>
              <a:rPr lang="en-GB" dirty="0"/>
              <a:t>. Par </a:t>
            </a:r>
            <a:r>
              <a:rPr lang="en-GB" dirty="0" err="1"/>
              <a:t>exemple</a:t>
            </a:r>
            <a:r>
              <a:rPr lang="en-GB" dirty="0"/>
              <a:t> : un temps de </a:t>
            </a:r>
            <a:r>
              <a:rPr lang="en-GB" dirty="0" err="1"/>
              <a:t>réponse</a:t>
            </a:r>
            <a:r>
              <a:rPr lang="en-GB" dirty="0"/>
              <a:t> API </a:t>
            </a:r>
            <a:r>
              <a:rPr lang="en-GB" dirty="0" err="1"/>
              <a:t>inférieur</a:t>
            </a:r>
            <a:r>
              <a:rPr lang="en-GB" dirty="0"/>
              <a:t> à 300 </a:t>
            </a:r>
            <a:r>
              <a:rPr lang="en-GB" dirty="0" err="1"/>
              <a:t>millisecondes</a:t>
            </a:r>
            <a:r>
              <a:rPr lang="en-GB" dirty="0"/>
              <a:t> au percentile 95, un </a:t>
            </a:r>
            <a:r>
              <a:rPr lang="en-GB" dirty="0" err="1"/>
              <a:t>taux</a:t>
            </a:r>
            <a:r>
              <a:rPr lang="en-GB" dirty="0"/>
              <a:t> de crash-free users supérieur à 99 %, un </a:t>
            </a:r>
            <a:r>
              <a:rPr lang="en-GB" dirty="0" err="1"/>
              <a:t>taux</a:t>
            </a:r>
            <a:r>
              <a:rPr lang="en-GB" dirty="0"/>
              <a:t> </a:t>
            </a:r>
            <a:r>
              <a:rPr lang="en-GB" dirty="0" err="1"/>
              <a:t>d’erreur</a:t>
            </a:r>
            <a:r>
              <a:rPr lang="en-GB" dirty="0"/>
              <a:t> API </a:t>
            </a:r>
            <a:r>
              <a:rPr lang="en-GB" dirty="0" err="1"/>
              <a:t>inférieur</a:t>
            </a:r>
            <a:r>
              <a:rPr lang="en-GB" dirty="0"/>
              <a:t> à 1 %, </a:t>
            </a:r>
            <a:r>
              <a:rPr lang="en-GB" dirty="0" err="1"/>
              <a:t>ou</a:t>
            </a:r>
            <a:r>
              <a:rPr lang="en-GB" dirty="0"/>
              <a:t> encore un </a:t>
            </a:r>
            <a:r>
              <a:rPr lang="en-GB" dirty="0" err="1"/>
              <a:t>taux</a:t>
            </a:r>
            <a:r>
              <a:rPr lang="en-GB" dirty="0"/>
              <a:t> </a:t>
            </a:r>
            <a:r>
              <a:rPr lang="en-GB" dirty="0" err="1"/>
              <a:t>d’activation</a:t>
            </a:r>
            <a:r>
              <a:rPr lang="en-GB" dirty="0"/>
              <a:t> des notifications supérieur à 35 %.</a:t>
            </a:r>
          </a:p>
          <a:p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indicateurs</a:t>
            </a:r>
            <a:r>
              <a:rPr lang="en-GB" dirty="0"/>
              <a:t> </a:t>
            </a:r>
            <a:r>
              <a:rPr lang="en-GB" dirty="0" err="1"/>
              <a:t>permettent</a:t>
            </a:r>
            <a:r>
              <a:rPr lang="en-GB" dirty="0"/>
              <a:t> de </a:t>
            </a:r>
            <a:r>
              <a:rPr lang="en-GB" dirty="0" err="1"/>
              <a:t>vérifier</a:t>
            </a:r>
            <a:r>
              <a:rPr lang="en-GB" dirty="0"/>
              <a:t> </a:t>
            </a:r>
            <a:r>
              <a:rPr lang="en-GB" dirty="0" err="1"/>
              <a:t>objectivement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 est </a:t>
            </a:r>
            <a:r>
              <a:rPr lang="en-GB" dirty="0" err="1"/>
              <a:t>fiable</a:t>
            </a:r>
            <a:r>
              <a:rPr lang="en-GB" dirty="0"/>
              <a:t>, </a:t>
            </a:r>
            <a:r>
              <a:rPr lang="en-GB" dirty="0" err="1"/>
              <a:t>performante</a:t>
            </a:r>
            <a:r>
              <a:rPr lang="en-GB" dirty="0"/>
              <a:t> et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méthodologie</a:t>
            </a:r>
            <a:r>
              <a:rPr lang="en-GB" dirty="0"/>
              <a:t> de recherche repose sur </a:t>
            </a:r>
            <a:r>
              <a:rPr lang="en-GB" dirty="0" err="1"/>
              <a:t>plusieurs</a:t>
            </a:r>
            <a:r>
              <a:rPr lang="en-GB" dirty="0"/>
              <a:t> sources.</a:t>
            </a:r>
          </a:p>
          <a:p>
            <a:r>
              <a:rPr lang="en-GB" dirty="0" err="1"/>
              <a:t>D’abord</a:t>
            </a:r>
            <a:r>
              <a:rPr lang="en-GB" dirty="0"/>
              <a:t>, </a:t>
            </a:r>
            <a:r>
              <a:rPr lang="en-GB" dirty="0" err="1"/>
              <a:t>une</a:t>
            </a:r>
            <a:r>
              <a:rPr lang="en-GB" dirty="0"/>
              <a:t> recherche </a:t>
            </a:r>
            <a:r>
              <a:rPr lang="en-GB" dirty="0" err="1"/>
              <a:t>documentaire</a:t>
            </a:r>
            <a:r>
              <a:rPr lang="en-GB" dirty="0"/>
              <a:t> sur les API, les frameworks mobiles, les bases de données et les services de notification.</a:t>
            </a:r>
          </a:p>
          <a:p>
            <a:r>
              <a:rPr lang="en-GB" dirty="0"/>
              <a:t>Ensuite, un benchmark des solutions </a:t>
            </a:r>
            <a:r>
              <a:rPr lang="en-GB" dirty="0" err="1"/>
              <a:t>existantes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Bandsintown</a:t>
            </a:r>
            <a:r>
              <a:rPr lang="en-GB" dirty="0"/>
              <a:t>, Ticketmaster, </a:t>
            </a:r>
            <a:r>
              <a:rPr lang="en-GB" dirty="0" err="1"/>
              <a:t>Songkick</a:t>
            </a:r>
            <a:r>
              <a:rPr lang="en-GB" dirty="0"/>
              <a:t>, Dice </a:t>
            </a:r>
            <a:r>
              <a:rPr lang="en-GB" dirty="0" err="1"/>
              <a:t>ou</a:t>
            </a:r>
            <a:r>
              <a:rPr lang="en-GB" dirty="0"/>
              <a:t> Shotgun.</a:t>
            </a:r>
          </a:p>
          <a:p>
            <a:r>
              <a:rPr lang="en-GB" dirty="0"/>
              <a:t>Une analyse </a:t>
            </a:r>
            <a:r>
              <a:rPr lang="en-GB" dirty="0" err="1"/>
              <a:t>réglementaire</a:t>
            </a:r>
            <a:r>
              <a:rPr lang="en-GB" dirty="0"/>
              <a:t> est </a:t>
            </a:r>
            <a:r>
              <a:rPr lang="en-GB" dirty="0" err="1"/>
              <a:t>aussi</a:t>
            </a:r>
            <a:r>
              <a:rPr lang="en-GB" dirty="0"/>
              <a:t> </a:t>
            </a:r>
            <a:r>
              <a:rPr lang="en-GB" dirty="0" err="1"/>
              <a:t>nécessaire</a:t>
            </a:r>
            <a:r>
              <a:rPr lang="en-GB" dirty="0"/>
              <a:t>, </a:t>
            </a:r>
            <a:r>
              <a:rPr lang="en-GB" dirty="0" err="1"/>
              <a:t>notamment</a:t>
            </a:r>
            <a:r>
              <a:rPr lang="en-GB" dirty="0"/>
              <a:t> avec les </a:t>
            </a:r>
            <a:r>
              <a:rPr lang="en-GB" dirty="0" err="1"/>
              <a:t>recommandations</a:t>
            </a:r>
            <a:r>
              <a:rPr lang="en-GB" dirty="0"/>
              <a:t> de la CNIL sur les applications mobiles, les permissions et la </a:t>
            </a:r>
            <a:r>
              <a:rPr lang="en-GB" dirty="0" err="1"/>
              <a:t>géolocalisation</a:t>
            </a:r>
            <a:r>
              <a:rPr lang="en-GB" dirty="0"/>
              <a:t>.</a:t>
            </a:r>
          </a:p>
          <a:p>
            <a:r>
              <a:rPr lang="en-GB" dirty="0"/>
              <a:t>La </a:t>
            </a:r>
            <a:r>
              <a:rPr lang="en-GB" dirty="0" err="1"/>
              <a:t>veille</a:t>
            </a:r>
            <a:r>
              <a:rPr lang="en-GB" dirty="0"/>
              <a:t> technique </a:t>
            </a:r>
            <a:r>
              <a:rPr lang="en-GB" dirty="0" err="1"/>
              <a:t>s’appuie</a:t>
            </a:r>
            <a:r>
              <a:rPr lang="en-GB" dirty="0"/>
              <a:t> sur les documentations </a:t>
            </a:r>
            <a:r>
              <a:rPr lang="en-GB" dirty="0" err="1"/>
              <a:t>officielles</a:t>
            </a:r>
            <a:r>
              <a:rPr lang="en-GB" dirty="0"/>
              <a:t>, GitHub, les stores </a:t>
            </a:r>
            <a:r>
              <a:rPr lang="en-GB" dirty="0" err="1"/>
              <a:t>d’applications</a:t>
            </a:r>
            <a:r>
              <a:rPr lang="en-GB" dirty="0"/>
              <a:t>, les blogs </a:t>
            </a:r>
            <a:r>
              <a:rPr lang="en-GB" dirty="0" err="1"/>
              <a:t>spécialisés</a:t>
            </a:r>
            <a:r>
              <a:rPr lang="en-GB" dirty="0"/>
              <a:t>, Feedly </a:t>
            </a:r>
            <a:r>
              <a:rPr lang="en-GB" dirty="0" err="1"/>
              <a:t>ou</a:t>
            </a:r>
            <a:r>
              <a:rPr lang="en-GB" dirty="0"/>
              <a:t> Google Alerts.</a:t>
            </a:r>
          </a:p>
          <a:p>
            <a:r>
              <a:rPr lang="en-GB" dirty="0" err="1"/>
              <a:t>Enfin</a:t>
            </a:r>
            <a:r>
              <a:rPr lang="en-GB" dirty="0"/>
              <a:t>, des </a:t>
            </a:r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d’exploitation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Sentry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Matomo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utilisés</a:t>
            </a:r>
            <a:r>
              <a:rPr lang="en-GB" dirty="0"/>
              <a:t> pour </a:t>
            </a:r>
            <a:r>
              <a:rPr lang="en-GB" dirty="0" err="1"/>
              <a:t>suivre</a:t>
            </a:r>
            <a:r>
              <a:rPr lang="en-GB" dirty="0"/>
              <a:t> la </a:t>
            </a:r>
            <a:r>
              <a:rPr lang="en-GB" dirty="0" err="1"/>
              <a:t>qualité</a:t>
            </a:r>
            <a:r>
              <a:rPr lang="en-GB" dirty="0"/>
              <a:t> de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fois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production.</a:t>
            </a:r>
          </a:p>
          <a:p>
            <a:r>
              <a:rPr lang="en-GB" dirty="0"/>
              <a:t>Cette </a:t>
            </a:r>
            <a:r>
              <a:rPr lang="en-GB" dirty="0" err="1"/>
              <a:t>veille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prendre des </a:t>
            </a:r>
            <a:r>
              <a:rPr lang="en-GB" dirty="0" err="1"/>
              <a:t>décisions</a:t>
            </a:r>
            <a:r>
              <a:rPr lang="en-GB" dirty="0"/>
              <a:t> techniques </a:t>
            </a:r>
            <a:r>
              <a:rPr lang="en-GB" dirty="0" err="1"/>
              <a:t>justifiées</a:t>
            </a:r>
            <a:r>
              <a:rPr lang="en-GB" dirty="0"/>
              <a:t>, </a:t>
            </a:r>
            <a:r>
              <a:rPr lang="en-GB" dirty="0" err="1"/>
              <a:t>plutôt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de </a:t>
            </a:r>
            <a:r>
              <a:rPr lang="en-GB" dirty="0" err="1"/>
              <a:t>choisir</a:t>
            </a:r>
            <a:r>
              <a:rPr lang="en-GB" dirty="0"/>
              <a:t> les </a:t>
            </a:r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uniquement</a:t>
            </a:r>
            <a:r>
              <a:rPr lang="en-GB" dirty="0"/>
              <a:t> par 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L’étude</a:t>
            </a:r>
            <a:r>
              <a:rPr lang="en-GB" dirty="0"/>
              <a:t> comparative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choisir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solution </a:t>
            </a:r>
            <a:r>
              <a:rPr lang="en-GB" dirty="0" err="1"/>
              <a:t>cohérente</a:t>
            </a:r>
            <a:r>
              <a:rPr lang="en-GB" dirty="0"/>
              <a:t> avec les </a:t>
            </a:r>
            <a:r>
              <a:rPr lang="en-GB" dirty="0" err="1"/>
              <a:t>objectifs</a:t>
            </a:r>
            <a:r>
              <a:rPr lang="en-GB" dirty="0"/>
              <a:t> du </a:t>
            </a:r>
            <a:r>
              <a:rPr lang="en-GB" dirty="0" err="1"/>
              <a:t>projet</a:t>
            </a:r>
            <a:r>
              <a:rPr lang="en-GB" dirty="0"/>
              <a:t>.</a:t>
            </a:r>
          </a:p>
          <a:p>
            <a:r>
              <a:rPr lang="en-GB" dirty="0"/>
              <a:t>Pour le </a:t>
            </a:r>
            <a:r>
              <a:rPr lang="en-GB" dirty="0" err="1"/>
              <a:t>développement</a:t>
            </a:r>
            <a:r>
              <a:rPr lang="en-GB" dirty="0"/>
              <a:t> mobile, </a:t>
            </a:r>
            <a:r>
              <a:rPr lang="en-GB" dirty="0" err="1"/>
              <a:t>plusieurs</a:t>
            </a:r>
            <a:r>
              <a:rPr lang="en-GB" dirty="0"/>
              <a:t> options </a:t>
            </a:r>
            <a:r>
              <a:rPr lang="en-GB" dirty="0" err="1"/>
              <a:t>sont</a:t>
            </a:r>
            <a:r>
              <a:rPr lang="en-GB" dirty="0"/>
              <a:t> possibles : </a:t>
            </a:r>
            <a:r>
              <a:rPr lang="en-GB" dirty="0" err="1"/>
              <a:t>développement</a:t>
            </a:r>
            <a:r>
              <a:rPr lang="en-GB" dirty="0"/>
              <a:t> </a:t>
            </a:r>
            <a:r>
              <a:rPr lang="en-GB" dirty="0" err="1"/>
              <a:t>natif</a:t>
            </a:r>
            <a:r>
              <a:rPr lang="en-GB" dirty="0"/>
              <a:t> Android et iOS, React Native, Flutter </a:t>
            </a:r>
            <a:r>
              <a:rPr lang="en-GB" dirty="0" err="1"/>
              <a:t>ou</a:t>
            </a:r>
            <a:r>
              <a:rPr lang="en-GB" dirty="0"/>
              <a:t> PWA.</a:t>
            </a:r>
          </a:p>
          <a:p>
            <a:r>
              <a:rPr lang="en-GB" dirty="0"/>
              <a:t>Le </a:t>
            </a:r>
            <a:r>
              <a:rPr lang="en-GB" dirty="0" err="1"/>
              <a:t>natif</a:t>
            </a:r>
            <a:r>
              <a:rPr lang="en-GB" dirty="0"/>
              <a:t> </a:t>
            </a:r>
            <a:r>
              <a:rPr lang="en-GB" dirty="0" err="1"/>
              <a:t>offre</a:t>
            </a:r>
            <a:r>
              <a:rPr lang="en-GB" dirty="0"/>
              <a:t> </a:t>
            </a:r>
            <a:r>
              <a:rPr lang="en-GB" dirty="0" err="1"/>
              <a:t>d’excellentes</a:t>
            </a:r>
            <a:r>
              <a:rPr lang="en-GB" dirty="0"/>
              <a:t> performances,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nécessite</a:t>
            </a:r>
            <a:r>
              <a:rPr lang="en-GB" dirty="0"/>
              <a:t> deux </a:t>
            </a:r>
            <a:r>
              <a:rPr lang="en-GB" dirty="0" err="1"/>
              <a:t>développements</a:t>
            </a:r>
            <a:r>
              <a:rPr lang="en-GB" dirty="0"/>
              <a:t> </a:t>
            </a:r>
            <a:r>
              <a:rPr lang="en-GB" dirty="0" err="1"/>
              <a:t>séparés</a:t>
            </a:r>
            <a:r>
              <a:rPr lang="en-GB" dirty="0"/>
              <a:t>, </a:t>
            </a:r>
            <a:r>
              <a:rPr lang="en-GB" dirty="0" err="1"/>
              <a:t>ce</a:t>
            </a:r>
            <a:r>
              <a:rPr lang="en-GB" dirty="0"/>
              <a:t> qui </a:t>
            </a:r>
            <a:r>
              <a:rPr lang="en-GB" dirty="0" err="1"/>
              <a:t>augmente</a:t>
            </a:r>
            <a:r>
              <a:rPr lang="en-GB" dirty="0"/>
              <a:t> les </a:t>
            </a:r>
            <a:r>
              <a:rPr lang="en-GB" dirty="0" err="1"/>
              <a:t>coûts</a:t>
            </a:r>
            <a:r>
              <a:rPr lang="en-GB" dirty="0"/>
              <a:t> et les </a:t>
            </a:r>
            <a:r>
              <a:rPr lang="en-GB" dirty="0" err="1"/>
              <a:t>délais</a:t>
            </a:r>
            <a:r>
              <a:rPr lang="en-GB" dirty="0"/>
              <a:t>.</a:t>
            </a:r>
          </a:p>
          <a:p>
            <a:r>
              <a:rPr lang="en-GB" dirty="0"/>
              <a:t>La PWA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intéressante</a:t>
            </a:r>
            <a:r>
              <a:rPr lang="en-GB" dirty="0"/>
              <a:t> pour </a:t>
            </a:r>
            <a:r>
              <a:rPr lang="en-GB" dirty="0" err="1"/>
              <a:t>certains</a:t>
            </a:r>
            <a:r>
              <a:rPr lang="en-GB" dirty="0"/>
              <a:t> usages,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elle</a:t>
            </a:r>
            <a:r>
              <a:rPr lang="en-GB" dirty="0"/>
              <a:t> est </a:t>
            </a:r>
            <a:r>
              <a:rPr lang="en-GB" dirty="0" err="1"/>
              <a:t>moins</a:t>
            </a:r>
            <a:r>
              <a:rPr lang="en-GB" dirty="0"/>
              <a:t> </a:t>
            </a:r>
            <a:r>
              <a:rPr lang="en-GB" dirty="0" err="1"/>
              <a:t>adaptée</a:t>
            </a:r>
            <a:r>
              <a:rPr lang="en-GB" dirty="0"/>
              <a:t> </a:t>
            </a:r>
            <a:r>
              <a:rPr lang="en-GB" dirty="0" err="1"/>
              <a:t>ici</a:t>
            </a:r>
            <a:r>
              <a:rPr lang="en-GB" dirty="0"/>
              <a:t>, </a:t>
            </a:r>
            <a:r>
              <a:rPr lang="en-GB" dirty="0" err="1"/>
              <a:t>notamment</a:t>
            </a:r>
            <a:r>
              <a:rPr lang="en-GB" dirty="0"/>
              <a:t> pour les notifications et </a:t>
            </a:r>
            <a:r>
              <a:rPr lang="en-GB" dirty="0" err="1"/>
              <a:t>l’expérience</a:t>
            </a:r>
            <a:r>
              <a:rPr lang="en-GB" dirty="0"/>
              <a:t> mobile </a:t>
            </a:r>
            <a:r>
              <a:rPr lang="en-GB" dirty="0" err="1"/>
              <a:t>complète</a:t>
            </a:r>
            <a:r>
              <a:rPr lang="en-GB" dirty="0"/>
              <a:t>.</a:t>
            </a:r>
          </a:p>
          <a:p>
            <a:r>
              <a:rPr lang="en-GB" dirty="0"/>
              <a:t>React Native est </a:t>
            </a:r>
            <a:r>
              <a:rPr lang="en-GB" dirty="0" err="1"/>
              <a:t>une</a:t>
            </a:r>
            <a:r>
              <a:rPr lang="en-GB" dirty="0"/>
              <a:t> option </a:t>
            </a:r>
            <a:r>
              <a:rPr lang="en-GB" dirty="0" err="1"/>
              <a:t>crédible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Flutter est </a:t>
            </a:r>
            <a:r>
              <a:rPr lang="en-GB" dirty="0" err="1"/>
              <a:t>recommandé</a:t>
            </a:r>
            <a:r>
              <a:rPr lang="en-GB" dirty="0"/>
              <a:t> pour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projet</a:t>
            </a:r>
            <a:r>
              <a:rPr lang="en-GB" dirty="0"/>
              <a:t>, car il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créer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application Android et iOS avec </a:t>
            </a:r>
            <a:r>
              <a:rPr lang="en-GB" dirty="0" err="1"/>
              <a:t>une</a:t>
            </a:r>
            <a:r>
              <a:rPr lang="en-GB" dirty="0"/>
              <a:t> base de code unique, </a:t>
            </a:r>
            <a:r>
              <a:rPr lang="en-GB" dirty="0" err="1"/>
              <a:t>une</a:t>
            </a:r>
            <a:r>
              <a:rPr lang="en-GB" dirty="0"/>
              <a:t> interface </a:t>
            </a:r>
            <a:r>
              <a:rPr lang="en-GB" dirty="0" err="1"/>
              <a:t>moderne</a:t>
            </a:r>
            <a:r>
              <a:rPr lang="en-GB" dirty="0"/>
              <a:t> et de </a:t>
            </a:r>
            <a:r>
              <a:rPr lang="en-GB" dirty="0" err="1"/>
              <a:t>bonnes</a:t>
            </a:r>
            <a:r>
              <a:rPr lang="en-GB" dirty="0"/>
              <a:t> performances.</a:t>
            </a:r>
          </a:p>
          <a:p>
            <a:r>
              <a:rPr lang="en-GB" dirty="0"/>
              <a:t>Pour le backend, </a:t>
            </a:r>
            <a:r>
              <a:rPr lang="en-GB" dirty="0" err="1"/>
              <a:t>NestJS</a:t>
            </a:r>
            <a:r>
              <a:rPr lang="en-GB" dirty="0"/>
              <a:t> est </a:t>
            </a:r>
            <a:r>
              <a:rPr lang="en-GB" dirty="0" err="1"/>
              <a:t>recommandé</a:t>
            </a:r>
            <a:r>
              <a:rPr lang="en-GB" dirty="0"/>
              <a:t>. Il </a:t>
            </a:r>
            <a:r>
              <a:rPr lang="en-GB" dirty="0" err="1"/>
              <a:t>offre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architecture </a:t>
            </a:r>
            <a:r>
              <a:rPr lang="en-GB" dirty="0" err="1"/>
              <a:t>structurée</a:t>
            </a:r>
            <a:r>
              <a:rPr lang="en-GB" dirty="0"/>
              <a:t>, </a:t>
            </a:r>
            <a:r>
              <a:rPr lang="en-GB" dirty="0" err="1"/>
              <a:t>modulaire</a:t>
            </a:r>
            <a:r>
              <a:rPr lang="en-GB" dirty="0"/>
              <a:t> et </a:t>
            </a:r>
            <a:r>
              <a:rPr lang="en-GB" dirty="0" err="1"/>
              <a:t>adaptée</a:t>
            </a:r>
            <a:r>
              <a:rPr lang="en-GB" dirty="0"/>
              <a:t> à </a:t>
            </a:r>
            <a:r>
              <a:rPr lang="en-GB" dirty="0" err="1"/>
              <a:t>une</a:t>
            </a:r>
            <a:r>
              <a:rPr lang="en-GB" dirty="0"/>
              <a:t> application </a:t>
            </a:r>
            <a:r>
              <a:rPr lang="en-GB" dirty="0" err="1"/>
              <a:t>professionnelle</a:t>
            </a:r>
            <a:r>
              <a:rPr lang="en-GB" dirty="0"/>
              <a:t>.</a:t>
            </a:r>
          </a:p>
          <a:p>
            <a:r>
              <a:rPr lang="en-GB" dirty="0"/>
              <a:t>Pour la base de données, PostgreSQL avec </a:t>
            </a:r>
            <a:r>
              <a:rPr lang="en-GB" dirty="0" err="1"/>
              <a:t>PostGIS</a:t>
            </a:r>
            <a:r>
              <a:rPr lang="en-GB" dirty="0"/>
              <a:t> est le choix le plus pertinent. </a:t>
            </a:r>
            <a:r>
              <a:rPr lang="en-GB" dirty="0" err="1"/>
              <a:t>PostGIS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gérer</a:t>
            </a:r>
            <a:r>
              <a:rPr lang="en-GB" dirty="0"/>
              <a:t> </a:t>
            </a:r>
            <a:r>
              <a:rPr lang="en-GB" dirty="0" err="1"/>
              <a:t>efficacement</a:t>
            </a:r>
            <a:r>
              <a:rPr lang="en-GB" dirty="0"/>
              <a:t> les </a:t>
            </a:r>
            <a:r>
              <a:rPr lang="en-GB" dirty="0" err="1"/>
              <a:t>recherches</a:t>
            </a:r>
            <a:r>
              <a:rPr lang="en-GB" dirty="0"/>
              <a:t> </a:t>
            </a:r>
            <a:r>
              <a:rPr lang="en-GB" dirty="0" err="1"/>
              <a:t>géographiques</a:t>
            </a:r>
            <a:r>
              <a:rPr lang="en-GB" dirty="0"/>
              <a:t>, par </a:t>
            </a: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trouver</a:t>
            </a:r>
            <a:r>
              <a:rPr lang="en-GB" dirty="0"/>
              <a:t> les concerts dans un rayon de 20 </a:t>
            </a:r>
            <a:r>
              <a:rPr lang="en-GB" dirty="0" err="1"/>
              <a:t>ou</a:t>
            </a:r>
            <a:r>
              <a:rPr lang="en-GB" dirty="0"/>
              <a:t> 50 </a:t>
            </a:r>
            <a:r>
              <a:rPr lang="en-GB" dirty="0" err="1"/>
              <a:t>kilomètres</a:t>
            </a:r>
            <a:r>
              <a:rPr lang="en-GB" dirty="0"/>
              <a:t> </a:t>
            </a:r>
            <a:r>
              <a:rPr lang="en-GB" dirty="0" err="1"/>
              <a:t>autour</a:t>
            </a:r>
            <a:r>
              <a:rPr lang="en-GB" dirty="0"/>
              <a:t> de </a:t>
            </a:r>
            <a:r>
              <a:rPr lang="en-GB" dirty="0" err="1"/>
              <a:t>l’utilisateur</a:t>
            </a:r>
            <a:r>
              <a:rPr lang="en-GB" dirty="0"/>
              <a:t>.</a:t>
            </a:r>
          </a:p>
          <a:p>
            <a:r>
              <a:rPr lang="en-GB" dirty="0"/>
              <a:t>Pour les notifications, Firebase Cloud Messaging est </a:t>
            </a:r>
            <a:r>
              <a:rPr lang="en-GB" dirty="0" err="1"/>
              <a:t>recommandé</a:t>
            </a:r>
            <a:r>
              <a:rPr lang="en-GB" dirty="0"/>
              <a:t>, car il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gérer</a:t>
            </a:r>
            <a:r>
              <a:rPr lang="en-GB" dirty="0"/>
              <a:t> les notifications push sur Android et iOS.</a:t>
            </a:r>
          </a:p>
          <a:p>
            <a:r>
              <a:rPr lang="en-GB" dirty="0" err="1"/>
              <a:t>L’architecture</a:t>
            </a:r>
            <a:r>
              <a:rPr lang="en-GB" dirty="0"/>
              <a:t> </a:t>
            </a:r>
            <a:r>
              <a:rPr lang="en-GB" dirty="0" err="1"/>
              <a:t>recommandée</a:t>
            </a:r>
            <a:r>
              <a:rPr lang="en-GB" dirty="0"/>
              <a:t> est </a:t>
            </a:r>
            <a:r>
              <a:rPr lang="en-GB" dirty="0" err="1"/>
              <a:t>donc</a:t>
            </a:r>
            <a:r>
              <a:rPr lang="en-GB" dirty="0"/>
              <a:t> : </a:t>
            </a:r>
            <a:r>
              <a:rPr lang="en-GB" b="1" dirty="0"/>
              <a:t>Flutter, </a:t>
            </a:r>
            <a:r>
              <a:rPr lang="en-GB" b="1" dirty="0" err="1"/>
              <a:t>NestJS</a:t>
            </a:r>
            <a:r>
              <a:rPr lang="en-GB" b="1" dirty="0"/>
              <a:t>, PostgreSQL/</a:t>
            </a:r>
            <a:r>
              <a:rPr lang="en-GB" b="1" dirty="0" err="1"/>
              <a:t>PostGIS</a:t>
            </a:r>
            <a:r>
              <a:rPr lang="en-GB" b="1" dirty="0"/>
              <a:t>, FCM et </a:t>
            </a:r>
            <a:r>
              <a:rPr lang="en-GB" b="1" dirty="0" err="1"/>
              <a:t>une</a:t>
            </a:r>
            <a:r>
              <a:rPr lang="en-GB" b="1" dirty="0"/>
              <a:t> couche </a:t>
            </a:r>
            <a:r>
              <a:rPr lang="en-GB" b="1" dirty="0" err="1"/>
              <a:t>d’agrégation</a:t>
            </a:r>
            <a:r>
              <a:rPr lang="en-GB" b="1" dirty="0"/>
              <a:t> de données concerts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L’architecture</a:t>
            </a:r>
            <a:r>
              <a:rPr lang="en-GB" dirty="0"/>
              <a:t> </a:t>
            </a:r>
            <a:r>
              <a:rPr lang="en-GB" dirty="0" err="1"/>
              <a:t>proposée</a:t>
            </a:r>
            <a:r>
              <a:rPr lang="en-GB" dirty="0"/>
              <a:t> repose sur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séparation</a:t>
            </a:r>
            <a:r>
              <a:rPr lang="en-GB" dirty="0"/>
              <a:t> </a:t>
            </a:r>
            <a:r>
              <a:rPr lang="en-GB" dirty="0" err="1"/>
              <a:t>claire</a:t>
            </a:r>
            <a:r>
              <a:rPr lang="en-GB" dirty="0"/>
              <a:t> des </a:t>
            </a:r>
            <a:r>
              <a:rPr lang="en-GB" dirty="0" err="1"/>
              <a:t>responsabilités</a:t>
            </a:r>
            <a:r>
              <a:rPr lang="en-GB" dirty="0"/>
              <a:t>.</a:t>
            </a:r>
          </a:p>
          <a:p>
            <a:r>
              <a:rPr lang="en-GB" dirty="0" err="1"/>
              <a:t>L’application</a:t>
            </a:r>
            <a:r>
              <a:rPr lang="en-GB" dirty="0"/>
              <a:t> mobile Flutter </a:t>
            </a:r>
            <a:r>
              <a:rPr lang="en-GB" dirty="0" err="1"/>
              <a:t>gère</a:t>
            </a:r>
            <a:r>
              <a:rPr lang="en-GB" dirty="0"/>
              <a:t> </a:t>
            </a:r>
            <a:r>
              <a:rPr lang="en-GB" dirty="0" err="1"/>
              <a:t>l’interface</a:t>
            </a:r>
            <a:r>
              <a:rPr lang="en-GB" dirty="0"/>
              <a:t> </a:t>
            </a:r>
            <a:r>
              <a:rPr lang="en-GB" dirty="0" err="1"/>
              <a:t>utilisateur</a:t>
            </a:r>
            <a:r>
              <a:rPr lang="en-GB" dirty="0"/>
              <a:t>, la </a:t>
            </a:r>
            <a:r>
              <a:rPr lang="en-GB" dirty="0" err="1"/>
              <a:t>géolocalisation</a:t>
            </a:r>
            <a:r>
              <a:rPr lang="en-GB" dirty="0"/>
              <a:t>, </a:t>
            </a:r>
            <a:r>
              <a:rPr lang="en-GB" dirty="0" err="1"/>
              <a:t>l’affichage</a:t>
            </a:r>
            <a:r>
              <a:rPr lang="en-GB" dirty="0"/>
              <a:t> des concerts, les </a:t>
            </a:r>
            <a:r>
              <a:rPr lang="en-GB" dirty="0" err="1"/>
              <a:t>favoris</a:t>
            </a:r>
            <a:r>
              <a:rPr lang="en-GB" dirty="0"/>
              <a:t> et les </a:t>
            </a:r>
            <a:r>
              <a:rPr lang="en-GB" dirty="0" err="1"/>
              <a:t>préférences</a:t>
            </a:r>
            <a:r>
              <a:rPr lang="en-GB" dirty="0"/>
              <a:t>.</a:t>
            </a:r>
          </a:p>
          <a:p>
            <a:r>
              <a:rPr lang="en-GB" dirty="0"/>
              <a:t>Elle communique </a:t>
            </a:r>
            <a:r>
              <a:rPr lang="en-GB" dirty="0" err="1"/>
              <a:t>en</a:t>
            </a:r>
            <a:r>
              <a:rPr lang="en-GB" dirty="0"/>
              <a:t> HTTPS avec </a:t>
            </a:r>
            <a:r>
              <a:rPr lang="en-GB" dirty="0" err="1"/>
              <a:t>une</a:t>
            </a:r>
            <a:r>
              <a:rPr lang="en-GB" dirty="0"/>
              <a:t> API backend </a:t>
            </a:r>
            <a:r>
              <a:rPr lang="en-GB" dirty="0" err="1"/>
              <a:t>développée</a:t>
            </a:r>
            <a:r>
              <a:rPr lang="en-GB" dirty="0"/>
              <a:t> avec </a:t>
            </a:r>
            <a:r>
              <a:rPr lang="en-GB" dirty="0" err="1"/>
              <a:t>NestJS</a:t>
            </a:r>
            <a:r>
              <a:rPr lang="en-GB" dirty="0"/>
              <a:t>.</a:t>
            </a:r>
          </a:p>
          <a:p>
            <a:r>
              <a:rPr lang="en-GB" dirty="0"/>
              <a:t>Le backend </a:t>
            </a:r>
            <a:r>
              <a:rPr lang="en-GB" dirty="0" err="1"/>
              <a:t>gère</a:t>
            </a:r>
            <a:r>
              <a:rPr lang="en-GB" dirty="0"/>
              <a:t> </a:t>
            </a:r>
            <a:r>
              <a:rPr lang="en-GB" dirty="0" err="1"/>
              <a:t>l’authentification</a:t>
            </a:r>
            <a:r>
              <a:rPr lang="en-GB" dirty="0"/>
              <a:t>, les </a:t>
            </a:r>
            <a:r>
              <a:rPr lang="en-GB" dirty="0" err="1"/>
              <a:t>utilisateurs</a:t>
            </a:r>
            <a:r>
              <a:rPr lang="en-GB" dirty="0"/>
              <a:t>, les </a:t>
            </a:r>
            <a:r>
              <a:rPr lang="en-GB" dirty="0" err="1"/>
              <a:t>préférences</a:t>
            </a:r>
            <a:r>
              <a:rPr lang="en-GB" dirty="0"/>
              <a:t>, la recherche de concerts, les notifications et </a:t>
            </a:r>
            <a:r>
              <a:rPr lang="en-GB" dirty="0" err="1"/>
              <a:t>l’administration</a:t>
            </a:r>
            <a:r>
              <a:rPr lang="en-GB" dirty="0"/>
              <a:t>.</a:t>
            </a:r>
          </a:p>
          <a:p>
            <a:r>
              <a:rPr lang="en-GB" dirty="0"/>
              <a:t>La base de données PostgreSQL avec </a:t>
            </a:r>
            <a:r>
              <a:rPr lang="en-GB" dirty="0" err="1"/>
              <a:t>PostGIS</a:t>
            </a:r>
            <a:r>
              <a:rPr lang="en-GB" dirty="0"/>
              <a:t> </a:t>
            </a:r>
            <a:r>
              <a:rPr lang="en-GB" dirty="0" err="1"/>
              <a:t>stocke</a:t>
            </a:r>
            <a:r>
              <a:rPr lang="en-GB" dirty="0"/>
              <a:t> les </a:t>
            </a:r>
            <a:r>
              <a:rPr lang="en-GB" dirty="0" err="1"/>
              <a:t>utilisateurs</a:t>
            </a:r>
            <a:r>
              <a:rPr lang="en-GB" dirty="0"/>
              <a:t>, les </a:t>
            </a:r>
            <a:r>
              <a:rPr lang="en-GB" dirty="0" err="1"/>
              <a:t>lieux</a:t>
            </a:r>
            <a:r>
              <a:rPr lang="en-GB" dirty="0"/>
              <a:t>, les concerts, les </a:t>
            </a:r>
            <a:r>
              <a:rPr lang="en-GB" dirty="0" err="1"/>
              <a:t>favoris</a:t>
            </a:r>
            <a:r>
              <a:rPr lang="en-GB" dirty="0"/>
              <a:t>, les </a:t>
            </a:r>
            <a:r>
              <a:rPr lang="en-GB" dirty="0" err="1"/>
              <a:t>préférences</a:t>
            </a:r>
            <a:r>
              <a:rPr lang="en-GB" dirty="0"/>
              <a:t> et </a:t>
            </a:r>
            <a:r>
              <a:rPr lang="en-GB" dirty="0" err="1"/>
              <a:t>l’historique</a:t>
            </a:r>
            <a:r>
              <a:rPr lang="en-GB" dirty="0"/>
              <a:t> des notifications.</a:t>
            </a:r>
          </a:p>
          <a:p>
            <a:r>
              <a:rPr lang="en-GB" dirty="0"/>
              <a:t>Les services externes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utilisés</a:t>
            </a:r>
            <a:r>
              <a:rPr lang="en-GB" dirty="0"/>
              <a:t> pour </a:t>
            </a:r>
            <a:r>
              <a:rPr lang="en-GB" dirty="0" err="1"/>
              <a:t>enrichir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 : API concerts, </a:t>
            </a:r>
            <a:r>
              <a:rPr lang="en-GB" dirty="0" err="1"/>
              <a:t>billetteries</a:t>
            </a:r>
            <a:r>
              <a:rPr lang="en-GB" dirty="0"/>
              <a:t>, </a:t>
            </a:r>
            <a:r>
              <a:rPr lang="en-GB" dirty="0" err="1"/>
              <a:t>cartographie</a:t>
            </a:r>
            <a:r>
              <a:rPr lang="en-GB" dirty="0"/>
              <a:t> et notifications push.</a:t>
            </a:r>
          </a:p>
          <a:p>
            <a:r>
              <a:rPr lang="en-GB" dirty="0"/>
              <a:t>Le patron </a:t>
            </a:r>
            <a:r>
              <a:rPr lang="en-GB" dirty="0" err="1"/>
              <a:t>recommandé</a:t>
            </a:r>
            <a:r>
              <a:rPr lang="en-GB" dirty="0"/>
              <a:t> est </a:t>
            </a:r>
            <a:r>
              <a:rPr lang="en-GB" dirty="0" err="1"/>
              <a:t>celui</a:t>
            </a:r>
            <a:r>
              <a:rPr lang="en-GB" dirty="0"/>
              <a:t> d’un </a:t>
            </a:r>
            <a:r>
              <a:rPr lang="en-GB" b="1" dirty="0"/>
              <a:t>backend-for-mobile</a:t>
            </a:r>
            <a:r>
              <a:rPr lang="en-GB" dirty="0"/>
              <a:t>, </a:t>
            </a:r>
            <a:r>
              <a:rPr lang="en-GB" dirty="0" err="1"/>
              <a:t>associé</a:t>
            </a:r>
            <a:r>
              <a:rPr lang="en-GB" dirty="0"/>
              <a:t> à un </a:t>
            </a:r>
            <a:r>
              <a:rPr lang="en-GB" dirty="0" err="1"/>
              <a:t>agrégateur</a:t>
            </a:r>
            <a:r>
              <a:rPr lang="en-GB" dirty="0"/>
              <a:t> de données et à un cache local des </a:t>
            </a:r>
            <a:r>
              <a:rPr lang="en-GB" dirty="0" err="1"/>
              <a:t>événements</a:t>
            </a:r>
            <a:r>
              <a:rPr lang="en-GB" dirty="0"/>
              <a:t>.</a:t>
            </a:r>
          </a:p>
          <a:p>
            <a:r>
              <a:rPr lang="en-GB" dirty="0"/>
              <a:t>Cela </a:t>
            </a:r>
            <a:r>
              <a:rPr lang="en-GB" dirty="0" err="1"/>
              <a:t>permet</a:t>
            </a:r>
            <a:r>
              <a:rPr lang="en-GB" dirty="0"/>
              <a:t> de ne pas exposer </a:t>
            </a:r>
            <a:r>
              <a:rPr lang="en-GB" dirty="0" err="1"/>
              <a:t>directement</a:t>
            </a:r>
            <a:r>
              <a:rPr lang="en-GB" dirty="0"/>
              <a:t> les API externes à </a:t>
            </a:r>
            <a:r>
              <a:rPr lang="en-GB" dirty="0" err="1"/>
              <a:t>l’application</a:t>
            </a:r>
            <a:r>
              <a:rPr lang="en-GB" dirty="0"/>
              <a:t> mobile et de </a:t>
            </a:r>
            <a:r>
              <a:rPr lang="en-GB" dirty="0" err="1"/>
              <a:t>garder</a:t>
            </a:r>
            <a:r>
              <a:rPr lang="en-GB" dirty="0"/>
              <a:t> le </a:t>
            </a:r>
            <a:r>
              <a:rPr lang="en-GB" dirty="0" err="1"/>
              <a:t>contrôle</a:t>
            </a:r>
            <a:r>
              <a:rPr lang="en-GB" dirty="0"/>
              <a:t> sur la donnée.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Deux flux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essentiels</a:t>
            </a:r>
            <a:r>
              <a:rPr lang="en-GB" dirty="0"/>
              <a:t> dans </a:t>
            </a:r>
            <a:r>
              <a:rPr lang="en-GB" dirty="0" err="1"/>
              <a:t>l’expérience</a:t>
            </a:r>
            <a:r>
              <a:rPr lang="en-GB" dirty="0"/>
              <a:t> </a:t>
            </a:r>
            <a:r>
              <a:rPr lang="en-GB" dirty="0" err="1"/>
              <a:t>utilisateur</a:t>
            </a:r>
            <a:r>
              <a:rPr lang="en-GB" dirty="0"/>
              <a:t>.</a:t>
            </a:r>
          </a:p>
          <a:p>
            <a:r>
              <a:rPr lang="en-GB" dirty="0"/>
              <a:t>Le premier est la recherche de concerts.</a:t>
            </a:r>
          </a:p>
          <a:p>
            <a:r>
              <a:rPr lang="en-GB" dirty="0" err="1"/>
              <a:t>L’utilisateur</a:t>
            </a:r>
            <a:r>
              <a:rPr lang="en-GB" dirty="0"/>
              <a:t> </a:t>
            </a:r>
            <a:r>
              <a:rPr lang="en-GB" dirty="0" err="1"/>
              <a:t>ouvre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. Il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autoriser</a:t>
            </a:r>
            <a:r>
              <a:rPr lang="en-GB" dirty="0"/>
              <a:t> la </a:t>
            </a:r>
            <a:r>
              <a:rPr lang="en-GB" dirty="0" err="1"/>
              <a:t>géolocalisation</a:t>
            </a:r>
            <a:r>
              <a:rPr lang="en-GB" dirty="0"/>
              <a:t> GPS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choisir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ville</a:t>
            </a:r>
            <a:r>
              <a:rPr lang="en-GB" dirty="0"/>
              <a:t> </a:t>
            </a:r>
            <a:r>
              <a:rPr lang="en-GB" dirty="0" err="1"/>
              <a:t>manuellement</a:t>
            </a:r>
            <a:r>
              <a:rPr lang="en-GB" dirty="0"/>
              <a:t>. Ensuite, il </a:t>
            </a:r>
            <a:r>
              <a:rPr lang="en-GB" dirty="0" err="1"/>
              <a:t>définit</a:t>
            </a:r>
            <a:r>
              <a:rPr lang="en-GB" dirty="0"/>
              <a:t> un rayon de recherche, par </a:t>
            </a:r>
            <a:r>
              <a:rPr lang="en-GB" dirty="0" err="1"/>
              <a:t>exemple</a:t>
            </a:r>
            <a:r>
              <a:rPr lang="en-GB" dirty="0"/>
              <a:t> 10, 25 </a:t>
            </a:r>
            <a:r>
              <a:rPr lang="en-GB" dirty="0" err="1"/>
              <a:t>ou</a:t>
            </a:r>
            <a:r>
              <a:rPr lang="en-GB" dirty="0"/>
              <a:t> 50 </a:t>
            </a:r>
            <a:r>
              <a:rPr lang="en-GB" dirty="0" err="1"/>
              <a:t>kilomètres</a:t>
            </a:r>
            <a:r>
              <a:rPr lang="en-GB" dirty="0"/>
              <a:t>.</a:t>
            </a:r>
          </a:p>
          <a:p>
            <a:r>
              <a:rPr lang="en-GB" dirty="0"/>
              <a:t>Le backend </a:t>
            </a:r>
            <a:r>
              <a:rPr lang="en-GB" dirty="0" err="1"/>
              <a:t>effectue</a:t>
            </a:r>
            <a:r>
              <a:rPr lang="en-GB" dirty="0"/>
              <a:t> </a:t>
            </a:r>
            <a:r>
              <a:rPr lang="en-GB" dirty="0" err="1"/>
              <a:t>alors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requête</a:t>
            </a:r>
            <a:r>
              <a:rPr lang="en-GB" dirty="0"/>
              <a:t> </a:t>
            </a:r>
            <a:r>
              <a:rPr lang="en-GB" dirty="0" err="1"/>
              <a:t>géographique</a:t>
            </a:r>
            <a:r>
              <a:rPr lang="en-GB" dirty="0"/>
              <a:t> avec </a:t>
            </a:r>
            <a:r>
              <a:rPr lang="en-GB" dirty="0" err="1"/>
              <a:t>PostGIS</a:t>
            </a:r>
            <a:r>
              <a:rPr lang="en-GB" dirty="0"/>
              <a:t> pour </a:t>
            </a:r>
            <a:r>
              <a:rPr lang="en-GB" dirty="0" err="1"/>
              <a:t>trouver</a:t>
            </a:r>
            <a:r>
              <a:rPr lang="en-GB" dirty="0"/>
              <a:t> les concerts </a:t>
            </a:r>
            <a:r>
              <a:rPr lang="en-GB" dirty="0" err="1"/>
              <a:t>proches</a:t>
            </a:r>
            <a:r>
              <a:rPr lang="en-GB" dirty="0"/>
              <a:t>. Si le cache local ne </a:t>
            </a:r>
            <a:r>
              <a:rPr lang="en-GB" dirty="0" err="1"/>
              <a:t>contient</a:t>
            </a:r>
            <a:r>
              <a:rPr lang="en-GB" dirty="0"/>
              <a:t> pas </a:t>
            </a:r>
            <a:r>
              <a:rPr lang="en-GB" dirty="0" err="1"/>
              <a:t>assez</a:t>
            </a:r>
            <a:r>
              <a:rPr lang="en-GB" dirty="0"/>
              <a:t> de </a:t>
            </a:r>
            <a:r>
              <a:rPr lang="en-GB" dirty="0" err="1"/>
              <a:t>résultats</a:t>
            </a:r>
            <a:r>
              <a:rPr lang="en-GB" dirty="0"/>
              <a:t>, le backend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interroger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API externe, normaliser les </a:t>
            </a:r>
            <a:r>
              <a:rPr lang="en-GB" dirty="0" err="1"/>
              <a:t>résultats</a:t>
            </a:r>
            <a:r>
              <a:rPr lang="en-GB" dirty="0"/>
              <a:t> et les stocker.</a:t>
            </a:r>
          </a:p>
          <a:p>
            <a:r>
              <a:rPr lang="en-GB" dirty="0"/>
              <a:t>Les concerts </a:t>
            </a:r>
            <a:r>
              <a:rPr lang="en-GB" dirty="0" err="1"/>
              <a:t>sont</a:t>
            </a:r>
            <a:r>
              <a:rPr lang="en-GB" dirty="0"/>
              <a:t> ensuite </a:t>
            </a:r>
            <a:r>
              <a:rPr lang="en-GB" dirty="0" err="1"/>
              <a:t>affichés</a:t>
            </a:r>
            <a:r>
              <a:rPr lang="en-GB" dirty="0"/>
              <a:t> dans </a:t>
            </a:r>
            <a:r>
              <a:rPr lang="en-GB" dirty="0" err="1"/>
              <a:t>l’application</a:t>
            </a:r>
            <a:r>
              <a:rPr lang="en-GB" dirty="0"/>
              <a:t> avec des </a:t>
            </a:r>
            <a:r>
              <a:rPr lang="en-GB" dirty="0" err="1"/>
              <a:t>filtres</a:t>
            </a:r>
            <a:r>
              <a:rPr lang="en-GB" dirty="0"/>
              <a:t> et un lien vers la </a:t>
            </a:r>
            <a:r>
              <a:rPr lang="en-GB" dirty="0" err="1"/>
              <a:t>billetterie</a:t>
            </a:r>
            <a:r>
              <a:rPr lang="en-GB" dirty="0"/>
              <a:t>.</a:t>
            </a:r>
          </a:p>
          <a:p>
            <a:r>
              <a:rPr lang="en-GB" dirty="0"/>
              <a:t>Le deuxième flux est </a:t>
            </a:r>
            <a:r>
              <a:rPr lang="en-GB" dirty="0" err="1"/>
              <a:t>celui</a:t>
            </a:r>
            <a:r>
              <a:rPr lang="en-GB" dirty="0"/>
              <a:t> des notifications </a:t>
            </a:r>
            <a:r>
              <a:rPr lang="en-GB" dirty="0" err="1"/>
              <a:t>personnalisées</a:t>
            </a:r>
            <a:r>
              <a:rPr lang="en-GB" dirty="0"/>
              <a:t>.</a:t>
            </a:r>
          </a:p>
          <a:p>
            <a:r>
              <a:rPr lang="en-GB" dirty="0"/>
              <a:t>Le backend </a:t>
            </a:r>
            <a:r>
              <a:rPr lang="en-GB" dirty="0" err="1"/>
              <a:t>importe</a:t>
            </a:r>
            <a:r>
              <a:rPr lang="en-GB" dirty="0"/>
              <a:t> </a:t>
            </a:r>
            <a:r>
              <a:rPr lang="en-GB" dirty="0" err="1"/>
              <a:t>régulièrement</a:t>
            </a:r>
            <a:r>
              <a:rPr lang="en-GB" dirty="0"/>
              <a:t> de nouveaux </a:t>
            </a:r>
            <a:r>
              <a:rPr lang="en-GB" dirty="0" err="1"/>
              <a:t>événements</a:t>
            </a:r>
            <a:r>
              <a:rPr lang="en-GB" dirty="0"/>
              <a:t>. Il les compare aux </a:t>
            </a:r>
            <a:r>
              <a:rPr lang="en-GB" dirty="0" err="1"/>
              <a:t>préférences</a:t>
            </a:r>
            <a:r>
              <a:rPr lang="en-GB" dirty="0"/>
              <a:t> des </a:t>
            </a:r>
            <a:r>
              <a:rPr lang="en-GB" dirty="0" err="1"/>
              <a:t>utilisateurs</a:t>
            </a:r>
            <a:r>
              <a:rPr lang="en-GB" dirty="0"/>
              <a:t> : distance, genre musical, artistes </a:t>
            </a:r>
            <a:r>
              <a:rPr lang="en-GB" dirty="0" err="1"/>
              <a:t>suivis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lieux</a:t>
            </a:r>
            <a:r>
              <a:rPr lang="en-GB" dirty="0"/>
              <a:t> </a:t>
            </a:r>
            <a:r>
              <a:rPr lang="en-GB" dirty="0" err="1"/>
              <a:t>favoris</a:t>
            </a:r>
            <a:r>
              <a:rPr lang="en-GB" dirty="0"/>
              <a:t>.</a:t>
            </a:r>
          </a:p>
          <a:p>
            <a:r>
              <a:rPr lang="en-GB" dirty="0"/>
              <a:t>Avant </a:t>
            </a:r>
            <a:r>
              <a:rPr lang="en-GB" dirty="0" err="1"/>
              <a:t>d’envoyer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notification, il faut </a:t>
            </a:r>
            <a:r>
              <a:rPr lang="en-GB" dirty="0" err="1"/>
              <a:t>contrôler</a:t>
            </a:r>
            <a:r>
              <a:rPr lang="en-GB" dirty="0"/>
              <a:t> la </a:t>
            </a:r>
            <a:r>
              <a:rPr lang="en-GB" dirty="0" err="1"/>
              <a:t>fréquence</a:t>
            </a:r>
            <a:r>
              <a:rPr lang="en-GB" dirty="0"/>
              <a:t> </a:t>
            </a:r>
            <a:r>
              <a:rPr lang="en-GB" dirty="0" err="1"/>
              <a:t>afin</a:t>
            </a:r>
            <a:r>
              <a:rPr lang="en-GB" dirty="0"/>
              <a:t> </a:t>
            </a:r>
            <a:r>
              <a:rPr lang="en-GB" dirty="0" err="1"/>
              <a:t>d’éviter</a:t>
            </a:r>
            <a:r>
              <a:rPr lang="en-GB" dirty="0"/>
              <a:t> </a:t>
            </a:r>
            <a:r>
              <a:rPr lang="en-GB" dirty="0" err="1"/>
              <a:t>l’effet</a:t>
            </a:r>
            <a:r>
              <a:rPr lang="en-GB" dirty="0"/>
              <a:t> spam.</a:t>
            </a:r>
          </a:p>
          <a:p>
            <a:r>
              <a:rPr lang="en-GB" dirty="0"/>
              <a:t>La notification est ensuite </a:t>
            </a:r>
            <a:r>
              <a:rPr lang="en-GB" dirty="0" err="1"/>
              <a:t>envoyée</a:t>
            </a:r>
            <a:r>
              <a:rPr lang="en-GB" dirty="0"/>
              <a:t> via Firebase Cloud Messaging, </a:t>
            </a:r>
            <a:r>
              <a:rPr lang="en-GB" dirty="0" err="1"/>
              <a:t>puis</a:t>
            </a:r>
            <a:r>
              <a:rPr lang="en-GB" dirty="0"/>
              <a:t> </a:t>
            </a:r>
            <a:r>
              <a:rPr lang="en-GB" dirty="0" err="1"/>
              <a:t>historisée</a:t>
            </a:r>
            <a:r>
              <a:rPr lang="en-GB" dirty="0"/>
              <a:t> pour </a:t>
            </a:r>
            <a:r>
              <a:rPr lang="en-GB" dirty="0" err="1"/>
              <a:t>mesurer</a:t>
            </a:r>
            <a:r>
              <a:rPr lang="en-GB" dirty="0"/>
              <a:t> les </a:t>
            </a:r>
            <a:r>
              <a:rPr lang="en-GB" dirty="0" err="1"/>
              <a:t>clics</a:t>
            </a:r>
            <a:r>
              <a:rPr lang="en-GB" dirty="0"/>
              <a:t> et </a:t>
            </a:r>
            <a:r>
              <a:rPr lang="en-GB" dirty="0" err="1"/>
              <a:t>éviter</a:t>
            </a:r>
            <a:r>
              <a:rPr lang="en-GB" dirty="0"/>
              <a:t> les </a:t>
            </a:r>
            <a:r>
              <a:rPr lang="en-GB" dirty="0" err="1"/>
              <a:t>doublons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Pour </a:t>
            </a:r>
            <a:r>
              <a:rPr lang="en-GB" dirty="0" err="1"/>
              <a:t>éviter</a:t>
            </a:r>
            <a:r>
              <a:rPr lang="en-GB" dirty="0"/>
              <a:t> un MVP trop </a:t>
            </a:r>
            <a:r>
              <a:rPr lang="en-GB" dirty="0" err="1"/>
              <a:t>ambitieux</a:t>
            </a:r>
            <a:r>
              <a:rPr lang="en-GB" dirty="0"/>
              <a:t>, les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priorisées</a:t>
            </a:r>
            <a:r>
              <a:rPr lang="en-GB" dirty="0"/>
              <a:t> avec la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dirty="0" err="1"/>
              <a:t>MoSCoW</a:t>
            </a:r>
            <a:r>
              <a:rPr lang="en-GB" dirty="0"/>
              <a:t>.</a:t>
            </a:r>
          </a:p>
          <a:p>
            <a:r>
              <a:rPr lang="en-GB" dirty="0"/>
              <a:t>Les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b="1" dirty="0"/>
              <a:t>Must have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indispensables. On </a:t>
            </a:r>
            <a:r>
              <a:rPr lang="en-GB" dirty="0" err="1"/>
              <a:t>retrouve</a:t>
            </a:r>
            <a:r>
              <a:rPr lang="en-GB" dirty="0"/>
              <a:t> le compte </a:t>
            </a:r>
            <a:r>
              <a:rPr lang="en-GB" dirty="0" err="1"/>
              <a:t>utilisateur</a:t>
            </a:r>
            <a:r>
              <a:rPr lang="en-GB" dirty="0"/>
              <a:t>, la </a:t>
            </a:r>
            <a:r>
              <a:rPr lang="en-GB" dirty="0" err="1"/>
              <a:t>géolocalisation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le choix </a:t>
            </a:r>
            <a:r>
              <a:rPr lang="en-GB" dirty="0" err="1"/>
              <a:t>manuel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</a:t>
            </a:r>
            <a:r>
              <a:rPr lang="en-GB" dirty="0" err="1"/>
              <a:t>ville</a:t>
            </a:r>
            <a:r>
              <a:rPr lang="en-GB" dirty="0"/>
              <a:t>, la </a:t>
            </a:r>
            <a:r>
              <a:rPr lang="en-GB" dirty="0" err="1"/>
              <a:t>liste</a:t>
            </a:r>
            <a:r>
              <a:rPr lang="en-GB" dirty="0"/>
              <a:t> des concerts </a:t>
            </a:r>
            <a:r>
              <a:rPr lang="en-GB" dirty="0" err="1"/>
              <a:t>proches</a:t>
            </a:r>
            <a:r>
              <a:rPr lang="en-GB" dirty="0"/>
              <a:t>, les </a:t>
            </a:r>
            <a:r>
              <a:rPr lang="en-GB" dirty="0" err="1"/>
              <a:t>filtres</a:t>
            </a:r>
            <a:r>
              <a:rPr lang="en-GB" dirty="0"/>
              <a:t> </a:t>
            </a:r>
            <a:r>
              <a:rPr lang="en-GB" dirty="0" err="1"/>
              <a:t>principaux</a:t>
            </a:r>
            <a:r>
              <a:rPr lang="en-GB" dirty="0"/>
              <a:t> et la fiche concert avec lien vers la </a:t>
            </a:r>
            <a:r>
              <a:rPr lang="en-GB" dirty="0" err="1"/>
              <a:t>billetterie</a:t>
            </a:r>
            <a:r>
              <a:rPr lang="en-GB" dirty="0"/>
              <a:t>.</a:t>
            </a:r>
          </a:p>
          <a:p>
            <a:r>
              <a:rPr lang="en-GB" dirty="0"/>
              <a:t>Les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b="1" dirty="0"/>
              <a:t>Should have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livrées</a:t>
            </a:r>
            <a:r>
              <a:rPr lang="en-GB" dirty="0"/>
              <a:t> après le socle principal. Il </a:t>
            </a:r>
            <a:r>
              <a:rPr lang="en-GB" dirty="0" err="1"/>
              <a:t>s’agit</a:t>
            </a:r>
            <a:r>
              <a:rPr lang="en-GB" dirty="0"/>
              <a:t> </a:t>
            </a:r>
            <a:r>
              <a:rPr lang="en-GB" dirty="0" err="1"/>
              <a:t>notamment</a:t>
            </a:r>
            <a:r>
              <a:rPr lang="en-GB" dirty="0"/>
              <a:t> des </a:t>
            </a:r>
            <a:r>
              <a:rPr lang="en-GB" dirty="0" err="1"/>
              <a:t>favoris</a:t>
            </a:r>
            <a:r>
              <a:rPr lang="en-GB" dirty="0"/>
              <a:t>, des </a:t>
            </a:r>
            <a:r>
              <a:rPr lang="en-GB" dirty="0" err="1"/>
              <a:t>alertes</a:t>
            </a:r>
            <a:r>
              <a:rPr lang="en-GB" dirty="0"/>
              <a:t> </a:t>
            </a:r>
            <a:r>
              <a:rPr lang="en-GB" dirty="0" err="1"/>
              <a:t>personnalisées</a:t>
            </a:r>
            <a:r>
              <a:rPr lang="en-GB" dirty="0"/>
              <a:t>, des </a:t>
            </a:r>
            <a:r>
              <a:rPr lang="en-GB" dirty="0" err="1"/>
              <a:t>préférences</a:t>
            </a:r>
            <a:r>
              <a:rPr lang="en-GB" dirty="0"/>
              <a:t> musicales et du </a:t>
            </a:r>
            <a:r>
              <a:rPr lang="en-GB" dirty="0" err="1"/>
              <a:t>signalement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donnée </a:t>
            </a:r>
            <a:r>
              <a:rPr lang="en-GB" dirty="0" err="1"/>
              <a:t>incorrecte</a:t>
            </a:r>
            <a:r>
              <a:rPr lang="en-GB" dirty="0"/>
              <a:t>.</a:t>
            </a:r>
          </a:p>
          <a:p>
            <a:r>
              <a:rPr lang="en-GB" dirty="0"/>
              <a:t>Les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b="1" dirty="0"/>
              <a:t>Could have</a:t>
            </a:r>
            <a:r>
              <a:rPr lang="en-GB" dirty="0"/>
              <a:t> </a:t>
            </a:r>
            <a:r>
              <a:rPr lang="en-GB" dirty="0" err="1"/>
              <a:t>apportent</a:t>
            </a:r>
            <a:r>
              <a:rPr lang="en-GB" dirty="0"/>
              <a:t> un plus, </a:t>
            </a:r>
            <a:r>
              <a:rPr lang="en-GB" dirty="0" err="1"/>
              <a:t>mais</a:t>
            </a:r>
            <a:r>
              <a:rPr lang="en-GB" dirty="0"/>
              <a:t> ne </a:t>
            </a:r>
            <a:r>
              <a:rPr lang="en-GB" dirty="0" err="1"/>
              <a:t>sont</a:t>
            </a:r>
            <a:r>
              <a:rPr lang="en-GB" dirty="0"/>
              <a:t> pas </a:t>
            </a:r>
            <a:r>
              <a:rPr lang="en-GB" dirty="0" err="1"/>
              <a:t>prioritaires</a:t>
            </a:r>
            <a:r>
              <a:rPr lang="en-GB" dirty="0"/>
              <a:t> pour </a:t>
            </a:r>
            <a:r>
              <a:rPr lang="en-GB" dirty="0" err="1"/>
              <a:t>valider</a:t>
            </a:r>
            <a:r>
              <a:rPr lang="en-GB" dirty="0"/>
              <a:t> le </a:t>
            </a:r>
            <a:r>
              <a:rPr lang="en-GB" dirty="0" err="1"/>
              <a:t>produit</a:t>
            </a:r>
            <a:r>
              <a:rPr lang="en-GB" dirty="0"/>
              <a:t>. Par </a:t>
            </a:r>
            <a:r>
              <a:rPr lang="en-GB" dirty="0" err="1"/>
              <a:t>exemple</a:t>
            </a:r>
            <a:r>
              <a:rPr lang="en-GB" dirty="0"/>
              <a:t> : </a:t>
            </a:r>
            <a:r>
              <a:rPr lang="en-GB" dirty="0" err="1"/>
              <a:t>une</a:t>
            </a:r>
            <a:r>
              <a:rPr lang="en-GB" dirty="0"/>
              <a:t> carte interactive </a:t>
            </a:r>
            <a:r>
              <a:rPr lang="en-GB" dirty="0" err="1"/>
              <a:t>avancée</a:t>
            </a:r>
            <a:r>
              <a:rPr lang="en-GB" dirty="0"/>
              <a:t>, le partage social, </a:t>
            </a:r>
            <a:r>
              <a:rPr lang="en-GB" dirty="0" err="1"/>
              <a:t>l’ajout</a:t>
            </a:r>
            <a:r>
              <a:rPr lang="en-GB" dirty="0"/>
              <a:t> à un agenda personnel </a:t>
            </a:r>
            <a:r>
              <a:rPr lang="en-GB" dirty="0" err="1"/>
              <a:t>ou</a:t>
            </a:r>
            <a:r>
              <a:rPr lang="en-GB" dirty="0"/>
              <a:t> des </a:t>
            </a:r>
            <a:r>
              <a:rPr lang="en-GB" dirty="0" err="1"/>
              <a:t>recommandations</a:t>
            </a:r>
            <a:r>
              <a:rPr lang="en-GB" dirty="0"/>
              <a:t> simples.</a:t>
            </a:r>
          </a:p>
          <a:p>
            <a:r>
              <a:rPr lang="en-GB" dirty="0" err="1"/>
              <a:t>Enfin</a:t>
            </a:r>
            <a:r>
              <a:rPr lang="en-GB" dirty="0"/>
              <a:t>, </a:t>
            </a:r>
            <a:r>
              <a:rPr lang="en-GB" dirty="0" err="1"/>
              <a:t>certaines</a:t>
            </a:r>
            <a:r>
              <a:rPr lang="en-GB" dirty="0"/>
              <a:t>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exclues</a:t>
            </a:r>
            <a:r>
              <a:rPr lang="en-GB" dirty="0"/>
              <a:t> du MVP. </a:t>
            </a:r>
            <a:r>
              <a:rPr lang="en-GB" dirty="0" err="1"/>
              <a:t>C’est</a:t>
            </a:r>
            <a:r>
              <a:rPr lang="en-GB" dirty="0"/>
              <a:t> le </a:t>
            </a:r>
            <a:r>
              <a:rPr lang="en-GB" dirty="0" err="1"/>
              <a:t>cas</a:t>
            </a:r>
            <a:r>
              <a:rPr lang="en-GB" dirty="0"/>
              <a:t> de </a:t>
            </a:r>
            <a:r>
              <a:rPr lang="en-GB" dirty="0" err="1"/>
              <a:t>l’achat</a:t>
            </a:r>
            <a:r>
              <a:rPr lang="en-GB" dirty="0"/>
              <a:t> de billets </a:t>
            </a:r>
            <a:r>
              <a:rPr lang="en-GB" dirty="0" err="1"/>
              <a:t>directement</a:t>
            </a:r>
            <a:r>
              <a:rPr lang="en-GB" dirty="0"/>
              <a:t> dans </a:t>
            </a:r>
            <a:r>
              <a:rPr lang="en-GB" dirty="0" err="1"/>
              <a:t>l’application</a:t>
            </a:r>
            <a:r>
              <a:rPr lang="en-GB" dirty="0"/>
              <a:t>, du back-office </a:t>
            </a:r>
            <a:r>
              <a:rPr lang="en-GB" dirty="0" err="1"/>
              <a:t>complet</a:t>
            </a:r>
            <a:r>
              <a:rPr lang="en-GB" dirty="0"/>
              <a:t> pour les </a:t>
            </a:r>
            <a:r>
              <a:rPr lang="en-GB" dirty="0" err="1"/>
              <a:t>organisateurs</a:t>
            </a:r>
            <a:r>
              <a:rPr lang="en-GB" dirty="0"/>
              <a:t>, de la </a:t>
            </a:r>
            <a:r>
              <a:rPr lang="en-GB" dirty="0" err="1"/>
              <a:t>messagerie</a:t>
            </a:r>
            <a:r>
              <a:rPr lang="en-GB" dirty="0"/>
              <a:t> </a:t>
            </a:r>
            <a:r>
              <a:rPr lang="en-GB" dirty="0" err="1"/>
              <a:t>communautaire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marketplace de sponsors.</a:t>
            </a:r>
          </a:p>
          <a:p>
            <a:r>
              <a:rPr lang="en-GB" dirty="0"/>
              <a:t>Cette </a:t>
            </a:r>
            <a:r>
              <a:rPr lang="en-GB" dirty="0" err="1"/>
              <a:t>priorisation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se </a:t>
            </a:r>
            <a:r>
              <a:rPr lang="en-GB" dirty="0" err="1"/>
              <a:t>concentrer</a:t>
            </a:r>
            <a:r>
              <a:rPr lang="en-GB" dirty="0"/>
              <a:t> sur la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principale</a:t>
            </a:r>
            <a:r>
              <a:rPr lang="en-GB" dirty="0"/>
              <a:t> : </a:t>
            </a:r>
            <a:r>
              <a:rPr lang="en-GB" dirty="0" err="1"/>
              <a:t>découvrir</a:t>
            </a:r>
            <a:r>
              <a:rPr lang="en-GB" dirty="0"/>
              <a:t> </a:t>
            </a:r>
            <a:r>
              <a:rPr lang="en-GB" dirty="0" err="1"/>
              <a:t>rapidement</a:t>
            </a:r>
            <a:r>
              <a:rPr lang="en-GB" dirty="0"/>
              <a:t> des concerts </a:t>
            </a:r>
            <a:r>
              <a:rPr lang="en-GB" dirty="0" err="1"/>
              <a:t>pertinents</a:t>
            </a:r>
            <a:r>
              <a:rPr lang="en-GB" dirty="0"/>
              <a:t> </a:t>
            </a:r>
            <a:r>
              <a:rPr lang="en-GB" dirty="0" err="1"/>
              <a:t>autour</a:t>
            </a:r>
            <a:r>
              <a:rPr lang="en-GB" dirty="0"/>
              <a:t> de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charge </a:t>
            </a:r>
            <a:r>
              <a:rPr lang="en-GB" dirty="0" err="1"/>
              <a:t>totale</a:t>
            </a:r>
            <a:r>
              <a:rPr lang="en-GB" dirty="0"/>
              <a:t> </a:t>
            </a:r>
            <a:r>
              <a:rPr lang="en-GB" dirty="0" err="1"/>
              <a:t>estimée</a:t>
            </a:r>
            <a:r>
              <a:rPr lang="en-GB" dirty="0"/>
              <a:t> pour le MVP est </a:t>
            </a:r>
            <a:r>
              <a:rPr lang="en-GB" dirty="0" err="1"/>
              <a:t>d’environ</a:t>
            </a:r>
            <a:r>
              <a:rPr lang="en-GB" dirty="0"/>
              <a:t> </a:t>
            </a:r>
            <a:r>
              <a:rPr lang="en-GB" b="1" dirty="0"/>
              <a:t>195 </a:t>
            </a:r>
            <a:r>
              <a:rPr lang="en-GB" b="1" dirty="0" err="1"/>
              <a:t>jours</a:t>
            </a:r>
            <a:r>
              <a:rPr lang="en-GB" b="1" dirty="0"/>
              <a:t>-homme</a:t>
            </a:r>
            <a:r>
              <a:rPr lang="en-GB" dirty="0"/>
              <a:t>.</a:t>
            </a:r>
          </a:p>
          <a:p>
            <a:r>
              <a:rPr lang="en-GB" dirty="0"/>
              <a:t>Cette estimation </a:t>
            </a:r>
            <a:r>
              <a:rPr lang="en-GB" dirty="0" err="1"/>
              <a:t>inclut</a:t>
            </a:r>
            <a:r>
              <a:rPr lang="en-GB" dirty="0"/>
              <a:t> le </a:t>
            </a:r>
            <a:r>
              <a:rPr lang="en-GB" dirty="0" err="1"/>
              <a:t>cadrage</a:t>
            </a:r>
            <a:r>
              <a:rPr lang="en-GB" dirty="0"/>
              <a:t>, </a:t>
            </a:r>
            <a:r>
              <a:rPr lang="en-GB" dirty="0" err="1"/>
              <a:t>l’UX</a:t>
            </a:r>
            <a:r>
              <a:rPr lang="en-GB" dirty="0"/>
              <a:t>/UI, </a:t>
            </a:r>
            <a:r>
              <a:rPr lang="en-GB" dirty="0" err="1"/>
              <a:t>l’architecture</a:t>
            </a:r>
            <a:r>
              <a:rPr lang="en-GB" dirty="0"/>
              <a:t>, le </a:t>
            </a:r>
            <a:r>
              <a:rPr lang="en-GB" dirty="0" err="1"/>
              <a:t>développement</a:t>
            </a:r>
            <a:r>
              <a:rPr lang="en-GB" dirty="0"/>
              <a:t> backend, le </a:t>
            </a:r>
            <a:r>
              <a:rPr lang="en-GB" dirty="0" err="1"/>
              <a:t>développement</a:t>
            </a:r>
            <a:r>
              <a:rPr lang="en-GB" dirty="0"/>
              <a:t> mobile, </a:t>
            </a:r>
            <a:r>
              <a:rPr lang="en-GB" dirty="0" err="1"/>
              <a:t>l’intégration</a:t>
            </a:r>
            <a:r>
              <a:rPr lang="en-GB" dirty="0"/>
              <a:t> des données, les notifications, le back-office minimal, les tests, le </a:t>
            </a:r>
            <a:r>
              <a:rPr lang="en-GB" dirty="0" err="1"/>
              <a:t>déploiement</a:t>
            </a:r>
            <a:r>
              <a:rPr lang="en-GB" dirty="0"/>
              <a:t>, la documentation et le pilotage </a:t>
            </a:r>
            <a:r>
              <a:rPr lang="en-GB" dirty="0" err="1"/>
              <a:t>projet</a:t>
            </a:r>
            <a:r>
              <a:rPr lang="en-GB" dirty="0"/>
              <a:t>.</a:t>
            </a:r>
          </a:p>
          <a:p>
            <a:r>
              <a:rPr lang="en-GB" dirty="0"/>
              <a:t>La plus grande </a:t>
            </a:r>
            <a:r>
              <a:rPr lang="en-GB" dirty="0" err="1"/>
              <a:t>partie</a:t>
            </a:r>
            <a:r>
              <a:rPr lang="en-GB" dirty="0"/>
              <a:t> de la charge se </a:t>
            </a:r>
            <a:r>
              <a:rPr lang="en-GB" dirty="0" err="1"/>
              <a:t>situe</a:t>
            </a:r>
            <a:r>
              <a:rPr lang="en-GB" dirty="0"/>
              <a:t> </a:t>
            </a:r>
            <a:r>
              <a:rPr lang="en-GB" dirty="0" err="1"/>
              <a:t>logiquement</a:t>
            </a:r>
            <a:r>
              <a:rPr lang="en-GB" dirty="0"/>
              <a:t> sur le </a:t>
            </a:r>
            <a:r>
              <a:rPr lang="en-GB" dirty="0" err="1"/>
              <a:t>développement</a:t>
            </a:r>
            <a:r>
              <a:rPr lang="en-GB" dirty="0"/>
              <a:t> mobile et backend, avec </a:t>
            </a:r>
            <a:r>
              <a:rPr lang="en-GB" dirty="0" err="1"/>
              <a:t>respectivement</a:t>
            </a:r>
            <a:r>
              <a:rPr lang="en-GB" dirty="0"/>
              <a:t> 45 et 40 </a:t>
            </a:r>
            <a:r>
              <a:rPr lang="en-GB" dirty="0" err="1"/>
              <a:t>jours</a:t>
            </a:r>
            <a:r>
              <a:rPr lang="en-GB" dirty="0"/>
              <a:t>.</a:t>
            </a:r>
          </a:p>
          <a:p>
            <a:r>
              <a:rPr lang="en-GB" dirty="0" err="1"/>
              <a:t>L’organisation</a:t>
            </a:r>
            <a:r>
              <a:rPr lang="en-GB" dirty="0"/>
              <a:t> </a:t>
            </a:r>
            <a:r>
              <a:rPr lang="en-GB" dirty="0" err="1"/>
              <a:t>recommandée</a:t>
            </a:r>
            <a:r>
              <a:rPr lang="en-GB" dirty="0"/>
              <a:t> est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agile, avec environ cinq sprints de deux </a:t>
            </a:r>
            <a:r>
              <a:rPr lang="en-GB" dirty="0" err="1"/>
              <a:t>semaines</a:t>
            </a:r>
            <a:r>
              <a:rPr lang="en-GB" dirty="0"/>
              <a:t>, </a:t>
            </a:r>
            <a:r>
              <a:rPr lang="en-GB" dirty="0" err="1"/>
              <a:t>suivis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phase de stabilisation, de tests et de publication sur les stores.</a:t>
            </a:r>
          </a:p>
          <a:p>
            <a:r>
              <a:rPr lang="en-GB" dirty="0"/>
              <a:t>Cette </a:t>
            </a:r>
            <a:r>
              <a:rPr lang="en-GB" dirty="0" err="1"/>
              <a:t>approche</a:t>
            </a:r>
            <a:r>
              <a:rPr lang="en-GB" dirty="0"/>
              <a:t> </a:t>
            </a: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livrer</a:t>
            </a:r>
            <a:r>
              <a:rPr lang="en-GB" dirty="0"/>
              <a:t> </a:t>
            </a:r>
            <a:r>
              <a:rPr lang="en-GB" dirty="0" err="1"/>
              <a:t>progressivement</a:t>
            </a:r>
            <a:r>
              <a:rPr lang="en-GB" dirty="0"/>
              <a:t>, de tester </a:t>
            </a:r>
            <a:r>
              <a:rPr lang="en-GB" dirty="0" err="1"/>
              <a:t>rapidement</a:t>
            </a:r>
            <a:r>
              <a:rPr lang="en-GB" dirty="0"/>
              <a:t> les </a:t>
            </a:r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 et </a:t>
            </a:r>
            <a:r>
              <a:rPr lang="en-GB" dirty="0" err="1"/>
              <a:t>d’ajuster</a:t>
            </a:r>
            <a:r>
              <a:rPr lang="en-GB" dirty="0"/>
              <a:t> le </a:t>
            </a:r>
            <a:r>
              <a:rPr lang="en-GB" dirty="0" err="1"/>
              <a:t>périmètre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nécessaire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Le budget </a:t>
            </a:r>
            <a:r>
              <a:rPr lang="en-GB" dirty="0" err="1"/>
              <a:t>prévisionnel</a:t>
            </a:r>
            <a:r>
              <a:rPr lang="en-GB" dirty="0"/>
              <a:t> repose sur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réalisation</a:t>
            </a:r>
            <a:r>
              <a:rPr lang="en-GB" dirty="0"/>
              <a:t> </a:t>
            </a:r>
            <a:r>
              <a:rPr lang="en-GB" dirty="0" err="1"/>
              <a:t>professionnelle</a:t>
            </a:r>
            <a:r>
              <a:rPr lang="en-GB" dirty="0"/>
              <a:t> par </a:t>
            </a:r>
            <a:r>
              <a:rPr lang="en-GB" dirty="0" err="1"/>
              <a:t>une</a:t>
            </a:r>
            <a:r>
              <a:rPr lang="en-GB" dirty="0"/>
              <a:t> petite équipe </a:t>
            </a:r>
            <a:r>
              <a:rPr lang="en-GB" dirty="0" err="1"/>
              <a:t>projet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développement</a:t>
            </a:r>
            <a:r>
              <a:rPr lang="en-GB" dirty="0"/>
              <a:t> du MVP est </a:t>
            </a:r>
            <a:r>
              <a:rPr lang="en-GB" dirty="0" err="1"/>
              <a:t>estimé</a:t>
            </a:r>
            <a:r>
              <a:rPr lang="en-GB" dirty="0"/>
              <a:t> à environ </a:t>
            </a:r>
            <a:r>
              <a:rPr lang="en-GB" b="1" dirty="0"/>
              <a:t>81 000 euros</a:t>
            </a:r>
            <a:r>
              <a:rPr lang="en-GB" dirty="0"/>
              <a:t>.</a:t>
            </a:r>
          </a:p>
          <a:p>
            <a:r>
              <a:rPr lang="en-GB" dirty="0"/>
              <a:t>À </a:t>
            </a:r>
            <a:r>
              <a:rPr lang="en-GB" dirty="0" err="1"/>
              <a:t>cela</a:t>
            </a:r>
            <a:r>
              <a:rPr lang="en-GB" dirty="0"/>
              <a:t> </a:t>
            </a:r>
            <a:r>
              <a:rPr lang="en-GB" dirty="0" err="1"/>
              <a:t>s’ajoutent</a:t>
            </a:r>
            <a:r>
              <a:rPr lang="en-GB" dirty="0"/>
              <a:t> les </a:t>
            </a:r>
            <a:r>
              <a:rPr lang="en-GB" dirty="0" err="1"/>
              <a:t>coûts</a:t>
            </a:r>
            <a:r>
              <a:rPr lang="en-GB" dirty="0"/>
              <a:t> </a:t>
            </a:r>
            <a:r>
              <a:rPr lang="en-GB" dirty="0" err="1"/>
              <a:t>d’infrastructure</a:t>
            </a:r>
            <a:r>
              <a:rPr lang="en-GB" dirty="0"/>
              <a:t> pour la première </a:t>
            </a:r>
            <a:r>
              <a:rPr lang="en-GB" dirty="0" err="1"/>
              <a:t>année</a:t>
            </a:r>
            <a:r>
              <a:rPr lang="en-GB" dirty="0"/>
              <a:t>, </a:t>
            </a:r>
            <a:r>
              <a:rPr lang="en-GB" dirty="0" err="1"/>
              <a:t>estimés</a:t>
            </a:r>
            <a:r>
              <a:rPr lang="en-GB" dirty="0"/>
              <a:t> à environ 2 500 euros, les </a:t>
            </a:r>
            <a:r>
              <a:rPr lang="en-GB" dirty="0" err="1"/>
              <a:t>outils</a:t>
            </a:r>
            <a:r>
              <a:rPr lang="en-GB" dirty="0"/>
              <a:t> et </a:t>
            </a:r>
            <a:r>
              <a:rPr lang="en-GB" dirty="0" err="1"/>
              <a:t>comptes</a:t>
            </a:r>
            <a:r>
              <a:rPr lang="en-GB" dirty="0"/>
              <a:t> stores pour environ 1 000 euros, </a:t>
            </a:r>
            <a:r>
              <a:rPr lang="en-GB" dirty="0" err="1"/>
              <a:t>ainsi</a:t>
            </a:r>
            <a:r>
              <a:rPr lang="en-GB" dirty="0"/>
              <a:t> </a:t>
            </a:r>
            <a:r>
              <a:rPr lang="en-GB" dirty="0" err="1"/>
              <a:t>qu’une</a:t>
            </a:r>
            <a:r>
              <a:rPr lang="en-GB" dirty="0"/>
              <a:t> </a:t>
            </a:r>
            <a:r>
              <a:rPr lang="en-GB" dirty="0" err="1"/>
              <a:t>enveloppe</a:t>
            </a:r>
            <a:r>
              <a:rPr lang="en-GB" dirty="0"/>
              <a:t> sécurité et </a:t>
            </a:r>
            <a:r>
              <a:rPr lang="en-GB" dirty="0" err="1"/>
              <a:t>conformité</a:t>
            </a:r>
            <a:r>
              <a:rPr lang="en-GB" dirty="0"/>
              <a:t> </a:t>
            </a:r>
            <a:r>
              <a:rPr lang="en-GB" dirty="0" err="1"/>
              <a:t>d’environ</a:t>
            </a:r>
            <a:r>
              <a:rPr lang="en-GB" dirty="0"/>
              <a:t> 3 000 euros.</a:t>
            </a:r>
          </a:p>
          <a:p>
            <a:r>
              <a:rPr lang="en-GB" dirty="0"/>
              <a:t>Une marge de </a:t>
            </a:r>
            <a:r>
              <a:rPr lang="en-GB" dirty="0" err="1"/>
              <a:t>risque</a:t>
            </a:r>
            <a:r>
              <a:rPr lang="en-GB" dirty="0"/>
              <a:t> de 15 % est </a:t>
            </a:r>
            <a:r>
              <a:rPr lang="en-GB" dirty="0" err="1"/>
              <a:t>ajoutée</a:t>
            </a:r>
            <a:r>
              <a:rPr lang="en-GB" dirty="0"/>
              <a:t>, </a:t>
            </a:r>
            <a:r>
              <a:rPr lang="en-GB" dirty="0" err="1"/>
              <a:t>ce</a:t>
            </a:r>
            <a:r>
              <a:rPr lang="en-GB" dirty="0"/>
              <a:t> qui </a:t>
            </a:r>
            <a:r>
              <a:rPr lang="en-GB" dirty="0" err="1"/>
              <a:t>porte</a:t>
            </a:r>
            <a:r>
              <a:rPr lang="en-GB" dirty="0"/>
              <a:t> le budget total </a:t>
            </a:r>
            <a:r>
              <a:rPr lang="en-GB" dirty="0" err="1"/>
              <a:t>prévisionnel</a:t>
            </a:r>
            <a:r>
              <a:rPr lang="en-GB" dirty="0"/>
              <a:t> à environ </a:t>
            </a:r>
            <a:r>
              <a:rPr lang="en-GB" b="1" dirty="0"/>
              <a:t>100 000 euros</a:t>
            </a:r>
            <a:r>
              <a:rPr lang="en-GB" dirty="0"/>
              <a:t>.</a:t>
            </a:r>
          </a:p>
          <a:p>
            <a:r>
              <a:rPr lang="en-GB" dirty="0"/>
              <a:t>Ce budget </a:t>
            </a:r>
            <a:r>
              <a:rPr lang="en-GB" dirty="0" err="1"/>
              <a:t>devra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révisé</a:t>
            </a:r>
            <a:r>
              <a:rPr lang="en-GB" dirty="0"/>
              <a:t> après validation des </a:t>
            </a:r>
            <a:r>
              <a:rPr lang="en-GB" dirty="0" err="1"/>
              <a:t>contrats</a:t>
            </a:r>
            <a:r>
              <a:rPr lang="en-GB" dirty="0"/>
              <a:t> API, des </a:t>
            </a:r>
            <a:r>
              <a:rPr lang="en-GB" dirty="0" err="1"/>
              <a:t>éventuels</a:t>
            </a:r>
            <a:r>
              <a:rPr lang="en-GB" dirty="0"/>
              <a:t> </a:t>
            </a:r>
            <a:r>
              <a:rPr lang="en-GB" dirty="0" err="1"/>
              <a:t>coûts</a:t>
            </a:r>
            <a:r>
              <a:rPr lang="en-GB" dirty="0"/>
              <a:t> de </a:t>
            </a:r>
            <a:r>
              <a:rPr lang="en-GB" dirty="0" err="1"/>
              <a:t>cartographie</a:t>
            </a:r>
            <a:r>
              <a:rPr lang="en-GB" dirty="0"/>
              <a:t>, des conditions de </a:t>
            </a:r>
            <a:r>
              <a:rPr lang="en-GB" dirty="0" err="1"/>
              <a:t>partenariat</a:t>
            </a:r>
            <a:r>
              <a:rPr lang="en-GB" dirty="0"/>
              <a:t> avec les </a:t>
            </a:r>
            <a:r>
              <a:rPr lang="en-GB" dirty="0" err="1"/>
              <a:t>billetteries</a:t>
            </a:r>
            <a:r>
              <a:rPr lang="en-GB" dirty="0"/>
              <a:t> et du volume </a:t>
            </a:r>
            <a:r>
              <a:rPr lang="en-GB" dirty="0" err="1"/>
              <a:t>d’utilisateurs</a:t>
            </a:r>
            <a:r>
              <a:rPr lang="en-GB" dirty="0"/>
              <a:t> </a:t>
            </a:r>
            <a:r>
              <a:rPr lang="en-GB" dirty="0" err="1"/>
              <a:t>attendu</a:t>
            </a:r>
            <a:r>
              <a:rPr lang="en-GB" dirty="0"/>
              <a:t>.</a:t>
            </a:r>
          </a:p>
          <a:p>
            <a:r>
              <a:rPr lang="en-GB" dirty="0" err="1"/>
              <a:t>L’objectif</a:t>
            </a:r>
            <a:r>
              <a:rPr lang="en-GB" dirty="0"/>
              <a:t> de </a:t>
            </a:r>
            <a:r>
              <a:rPr lang="en-GB" dirty="0" err="1"/>
              <a:t>cette</a:t>
            </a:r>
            <a:r>
              <a:rPr lang="en-GB" dirty="0"/>
              <a:t> estimation </a:t>
            </a:r>
            <a:r>
              <a:rPr lang="en-GB" dirty="0" err="1"/>
              <a:t>n’est</a:t>
            </a:r>
            <a:r>
              <a:rPr lang="en-GB" dirty="0"/>
              <a:t> pas de donner un prix </a:t>
            </a:r>
            <a:r>
              <a:rPr lang="en-GB" dirty="0" err="1"/>
              <a:t>définitif</a:t>
            </a:r>
            <a:r>
              <a:rPr lang="en-GB" dirty="0"/>
              <a:t>, </a:t>
            </a:r>
            <a:r>
              <a:rPr lang="en-GB" dirty="0" err="1"/>
              <a:t>mais</a:t>
            </a:r>
            <a:r>
              <a:rPr lang="en-GB" dirty="0"/>
              <a:t> de </a:t>
            </a:r>
            <a:r>
              <a:rPr lang="en-GB" dirty="0" err="1"/>
              <a:t>cadrer</a:t>
            </a:r>
            <a:r>
              <a:rPr lang="en-GB" dirty="0"/>
              <a:t> un </a:t>
            </a:r>
            <a:r>
              <a:rPr lang="en-GB" dirty="0" err="1"/>
              <a:t>ordre</a:t>
            </a:r>
            <a:r>
              <a:rPr lang="en-GB" dirty="0"/>
              <a:t> de grandeur </a:t>
            </a:r>
            <a:r>
              <a:rPr lang="en-GB" dirty="0" err="1"/>
              <a:t>réaliste</a:t>
            </a:r>
            <a:r>
              <a:rPr lang="en-GB" dirty="0"/>
              <a:t> pour un MVP </a:t>
            </a:r>
            <a:r>
              <a:rPr lang="en-GB" dirty="0" err="1"/>
              <a:t>professionnel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Pour </a:t>
            </a:r>
            <a:r>
              <a:rPr lang="en-GB" dirty="0" err="1"/>
              <a:t>répondre</a:t>
            </a:r>
            <a:r>
              <a:rPr lang="en-GB" dirty="0"/>
              <a:t> </a:t>
            </a:r>
            <a:r>
              <a:rPr lang="en-GB" dirty="0" err="1"/>
              <a:t>efficacement</a:t>
            </a:r>
            <a:r>
              <a:rPr lang="en-GB" dirty="0"/>
              <a:t> à la </a:t>
            </a:r>
            <a:r>
              <a:rPr lang="en-GB" dirty="0" err="1"/>
              <a:t>problématique</a:t>
            </a:r>
            <a:r>
              <a:rPr lang="en-GB" dirty="0"/>
              <a:t> du client, cinq axes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préconisés</a:t>
            </a:r>
            <a:r>
              <a:rPr lang="en-GB" dirty="0"/>
              <a:t>.</a:t>
            </a:r>
          </a:p>
          <a:p>
            <a:r>
              <a:rPr lang="en-GB" dirty="0"/>
              <a:t>Le premier est de </a:t>
            </a:r>
            <a:r>
              <a:rPr lang="en-GB" dirty="0" err="1"/>
              <a:t>développer</a:t>
            </a:r>
            <a:r>
              <a:rPr lang="en-GB" dirty="0"/>
              <a:t> un MVP </a:t>
            </a:r>
            <a:r>
              <a:rPr lang="en-GB" dirty="0" err="1"/>
              <a:t>centré</a:t>
            </a:r>
            <a:r>
              <a:rPr lang="en-GB" dirty="0"/>
              <a:t> sur la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utilisateur</a:t>
            </a:r>
            <a:r>
              <a:rPr lang="en-GB" dirty="0"/>
              <a:t>. Il faut </a:t>
            </a:r>
            <a:r>
              <a:rPr lang="en-GB" dirty="0" err="1"/>
              <a:t>prioriser</a:t>
            </a:r>
            <a:r>
              <a:rPr lang="en-GB" dirty="0"/>
              <a:t> la recherche de concerts </a:t>
            </a:r>
            <a:r>
              <a:rPr lang="en-GB" dirty="0" err="1"/>
              <a:t>proches</a:t>
            </a:r>
            <a:r>
              <a:rPr lang="en-GB" dirty="0"/>
              <a:t>, les </a:t>
            </a:r>
            <a:r>
              <a:rPr lang="en-GB" dirty="0" err="1"/>
              <a:t>filtres</a:t>
            </a:r>
            <a:r>
              <a:rPr lang="en-GB" dirty="0"/>
              <a:t>, les </a:t>
            </a:r>
            <a:r>
              <a:rPr lang="en-GB" dirty="0" err="1"/>
              <a:t>favoris</a:t>
            </a:r>
            <a:r>
              <a:rPr lang="en-GB" dirty="0"/>
              <a:t>, les notifications et la redirection vers la </a:t>
            </a:r>
            <a:r>
              <a:rPr lang="en-GB" dirty="0" err="1"/>
              <a:t>billetterie</a:t>
            </a:r>
            <a:r>
              <a:rPr lang="en-GB" dirty="0"/>
              <a:t>.</a:t>
            </a:r>
          </a:p>
          <a:p>
            <a:r>
              <a:rPr lang="en-GB" dirty="0"/>
              <a:t>Le deuxième axe est de </a:t>
            </a:r>
            <a:r>
              <a:rPr lang="en-GB" dirty="0" err="1"/>
              <a:t>choisir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architecture </a:t>
            </a:r>
            <a:r>
              <a:rPr lang="en-GB" dirty="0" err="1"/>
              <a:t>évolutive</a:t>
            </a:r>
            <a:r>
              <a:rPr lang="en-GB" dirty="0"/>
              <a:t>. </a:t>
            </a:r>
            <a:r>
              <a:rPr lang="en-GB" dirty="0" err="1"/>
              <a:t>L’application</a:t>
            </a:r>
            <a:r>
              <a:rPr lang="en-GB" dirty="0"/>
              <a:t> mobile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séparée</a:t>
            </a:r>
            <a:r>
              <a:rPr lang="en-GB" dirty="0"/>
              <a:t> du backend, et le backend doit centraliser la </a:t>
            </a:r>
            <a:r>
              <a:rPr lang="en-GB" dirty="0" err="1"/>
              <a:t>logique</a:t>
            </a:r>
            <a:r>
              <a:rPr lang="en-GB" dirty="0"/>
              <a:t> </a:t>
            </a:r>
            <a:r>
              <a:rPr lang="en-GB" dirty="0" err="1"/>
              <a:t>métier</a:t>
            </a:r>
            <a:r>
              <a:rPr lang="en-GB" dirty="0"/>
              <a:t>, la sécurité et </a:t>
            </a:r>
            <a:r>
              <a:rPr lang="en-GB" dirty="0" err="1"/>
              <a:t>l’agrégation</a:t>
            </a:r>
            <a:r>
              <a:rPr lang="en-GB" dirty="0"/>
              <a:t> des données.</a:t>
            </a:r>
          </a:p>
          <a:p>
            <a:r>
              <a:rPr lang="en-GB" dirty="0"/>
              <a:t>Le </a:t>
            </a:r>
            <a:r>
              <a:rPr lang="en-GB" dirty="0" err="1"/>
              <a:t>troisième</a:t>
            </a:r>
            <a:r>
              <a:rPr lang="en-GB" dirty="0"/>
              <a:t> axe est de </a:t>
            </a:r>
            <a:r>
              <a:rPr lang="en-GB" dirty="0" err="1"/>
              <a:t>mettre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place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stratégie</a:t>
            </a:r>
            <a:r>
              <a:rPr lang="en-GB" dirty="0"/>
              <a:t> de données multi-sources. Il ne faut pas </a:t>
            </a:r>
            <a:r>
              <a:rPr lang="en-GB" dirty="0" err="1"/>
              <a:t>dépendre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</a:t>
            </a:r>
            <a:r>
              <a:rPr lang="en-GB" dirty="0" err="1"/>
              <a:t>seule</a:t>
            </a:r>
            <a:r>
              <a:rPr lang="en-GB" dirty="0"/>
              <a:t> API. Il faut </a:t>
            </a:r>
            <a:r>
              <a:rPr lang="en-GB" dirty="0" err="1"/>
              <a:t>prévoir</a:t>
            </a:r>
            <a:r>
              <a:rPr lang="en-GB" dirty="0"/>
              <a:t> un cache, </a:t>
            </a:r>
            <a:r>
              <a:rPr lang="en-GB" dirty="0" err="1"/>
              <a:t>une</a:t>
            </a:r>
            <a:r>
              <a:rPr lang="en-GB" dirty="0"/>
              <a:t> normalisation des </a:t>
            </a:r>
            <a:r>
              <a:rPr lang="en-GB" dirty="0" err="1"/>
              <a:t>événements</a:t>
            </a:r>
            <a:r>
              <a:rPr lang="en-GB" dirty="0"/>
              <a:t>, des </a:t>
            </a:r>
            <a:r>
              <a:rPr lang="en-GB" dirty="0" err="1"/>
              <a:t>partenariats</a:t>
            </a:r>
            <a:r>
              <a:rPr lang="en-GB" dirty="0"/>
              <a:t> avec des salles et un </a:t>
            </a:r>
            <a:r>
              <a:rPr lang="en-GB" dirty="0" err="1"/>
              <a:t>système</a:t>
            </a:r>
            <a:r>
              <a:rPr lang="en-GB" dirty="0"/>
              <a:t> de </a:t>
            </a:r>
            <a:r>
              <a:rPr lang="en-GB" dirty="0" err="1"/>
              <a:t>signalement</a:t>
            </a:r>
            <a:r>
              <a:rPr lang="en-GB" dirty="0"/>
              <a:t>.</a:t>
            </a:r>
          </a:p>
          <a:p>
            <a:r>
              <a:rPr lang="en-GB" dirty="0"/>
              <a:t>Le </a:t>
            </a:r>
            <a:r>
              <a:rPr lang="en-GB" dirty="0" err="1"/>
              <a:t>quatrième</a:t>
            </a:r>
            <a:r>
              <a:rPr lang="en-GB" dirty="0"/>
              <a:t> axe est le </a:t>
            </a:r>
            <a:r>
              <a:rPr lang="en-GB" b="1" dirty="0"/>
              <a:t>privacy by design</a:t>
            </a:r>
            <a:r>
              <a:rPr lang="en-GB" dirty="0"/>
              <a:t>. La </a:t>
            </a:r>
            <a:r>
              <a:rPr lang="en-GB" dirty="0" err="1"/>
              <a:t>géolocalisation</a:t>
            </a:r>
            <a:r>
              <a:rPr lang="en-GB" dirty="0"/>
              <a:t> doit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optionnelle</a:t>
            </a:r>
            <a:r>
              <a:rPr lang="en-GB" dirty="0"/>
              <a:t>, le </a:t>
            </a:r>
            <a:r>
              <a:rPr lang="en-GB" dirty="0" err="1"/>
              <a:t>consentement</a:t>
            </a:r>
            <a:r>
              <a:rPr lang="en-GB" dirty="0"/>
              <a:t> </a:t>
            </a:r>
            <a:r>
              <a:rPr lang="en-GB" dirty="0" err="1"/>
              <a:t>clair</a:t>
            </a:r>
            <a:r>
              <a:rPr lang="en-GB" dirty="0"/>
              <a:t>, la suppression de compte possible, et les données </a:t>
            </a:r>
            <a:r>
              <a:rPr lang="en-GB" dirty="0" err="1"/>
              <a:t>conservées</a:t>
            </a:r>
            <a:r>
              <a:rPr lang="en-GB" dirty="0"/>
              <a:t> </a:t>
            </a:r>
            <a:r>
              <a:rPr lang="en-GB" dirty="0" err="1"/>
              <a:t>uniquement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elles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nécessaires</a:t>
            </a:r>
            <a:r>
              <a:rPr lang="en-GB" dirty="0"/>
              <a:t>.</a:t>
            </a:r>
          </a:p>
          <a:p>
            <a:r>
              <a:rPr lang="en-GB" dirty="0" err="1"/>
              <a:t>Enfin</a:t>
            </a:r>
            <a:r>
              <a:rPr lang="en-GB" dirty="0"/>
              <a:t>, le </a:t>
            </a:r>
            <a:r>
              <a:rPr lang="en-GB" dirty="0" err="1"/>
              <a:t>cinquième</a:t>
            </a:r>
            <a:r>
              <a:rPr lang="en-GB" dirty="0"/>
              <a:t> axe </a:t>
            </a:r>
            <a:r>
              <a:rPr lang="en-GB" dirty="0" err="1"/>
              <a:t>concerne</a:t>
            </a:r>
            <a:r>
              <a:rPr lang="en-GB" dirty="0"/>
              <a:t> la </a:t>
            </a:r>
            <a:r>
              <a:rPr lang="en-GB" dirty="0" err="1"/>
              <a:t>monétisation</a:t>
            </a:r>
            <a:r>
              <a:rPr lang="en-GB" dirty="0"/>
              <a:t> progressive.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d’abord</a:t>
            </a:r>
            <a:r>
              <a:rPr lang="en-GB" dirty="0"/>
              <a:t> </a:t>
            </a:r>
            <a:r>
              <a:rPr lang="en-GB" dirty="0" err="1"/>
              <a:t>créer</a:t>
            </a:r>
            <a:r>
              <a:rPr lang="en-GB" dirty="0"/>
              <a:t> de la </a:t>
            </a:r>
            <a:r>
              <a:rPr lang="en-GB" dirty="0" err="1"/>
              <a:t>valeur</a:t>
            </a:r>
            <a:r>
              <a:rPr lang="en-GB" dirty="0"/>
              <a:t> pour </a:t>
            </a:r>
            <a:r>
              <a:rPr lang="en-GB" dirty="0" err="1"/>
              <a:t>l’utilisateur</a:t>
            </a:r>
            <a:r>
              <a:rPr lang="en-GB" dirty="0"/>
              <a:t>, </a:t>
            </a:r>
            <a:r>
              <a:rPr lang="en-GB" dirty="0" err="1"/>
              <a:t>puis</a:t>
            </a:r>
            <a:r>
              <a:rPr lang="en-GB" dirty="0"/>
              <a:t> </a:t>
            </a:r>
            <a:r>
              <a:rPr lang="en-GB" dirty="0" err="1"/>
              <a:t>intégrer</a:t>
            </a:r>
            <a:r>
              <a:rPr lang="en-GB" dirty="0"/>
              <a:t> de </a:t>
            </a:r>
            <a:r>
              <a:rPr lang="en-GB" dirty="0" err="1"/>
              <a:t>l’affiliation</a:t>
            </a:r>
            <a:r>
              <a:rPr lang="en-GB" dirty="0"/>
              <a:t> </a:t>
            </a:r>
            <a:r>
              <a:rPr lang="en-GB" dirty="0" err="1"/>
              <a:t>billetterie</a:t>
            </a:r>
            <a:r>
              <a:rPr lang="en-GB" dirty="0"/>
              <a:t>, de la mise </a:t>
            </a:r>
            <a:r>
              <a:rPr lang="en-GB" dirty="0" err="1"/>
              <a:t>en</a:t>
            </a:r>
            <a:r>
              <a:rPr lang="en-GB" dirty="0"/>
              <a:t> avant </a:t>
            </a:r>
            <a:r>
              <a:rPr lang="en-GB" dirty="0" err="1"/>
              <a:t>encadrée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des </a:t>
            </a:r>
            <a:r>
              <a:rPr lang="en-GB" dirty="0" err="1"/>
              <a:t>offres</a:t>
            </a:r>
            <a:r>
              <a:rPr lang="en-GB" dirty="0"/>
              <a:t> pour les </a:t>
            </a:r>
            <a:r>
              <a:rPr lang="en-GB" dirty="0" err="1"/>
              <a:t>organisateurs</a:t>
            </a:r>
            <a:r>
              <a:rPr lang="en-GB" dirty="0"/>
              <a:t>.</a:t>
            </a:r>
          </a:p>
          <a:p>
            <a:r>
              <a:rPr lang="en-GB" dirty="0" err="1"/>
              <a:t>Ainsi</a:t>
            </a:r>
            <a:r>
              <a:rPr lang="en-GB" dirty="0"/>
              <a:t>, </a:t>
            </a:r>
            <a:r>
              <a:rPr lang="en-GB" dirty="0" err="1"/>
              <a:t>LiveAround</a:t>
            </a:r>
            <a:r>
              <a:rPr lang="en-GB" dirty="0"/>
              <a:t> </a:t>
            </a:r>
            <a:r>
              <a:rPr lang="en-GB" dirty="0" err="1"/>
              <a:t>répond</a:t>
            </a:r>
            <a:r>
              <a:rPr lang="en-GB" dirty="0"/>
              <a:t> à la </a:t>
            </a:r>
            <a:r>
              <a:rPr lang="en-GB" dirty="0" err="1"/>
              <a:t>problématique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transformant la recherche de concerts </a:t>
            </a:r>
            <a:r>
              <a:rPr lang="en-GB" dirty="0" err="1"/>
              <a:t>en</a:t>
            </a:r>
            <a:r>
              <a:rPr lang="en-GB" dirty="0"/>
              <a:t> service national de </a:t>
            </a:r>
            <a:r>
              <a:rPr lang="en-GB" dirty="0" err="1"/>
              <a:t>proximité</a:t>
            </a:r>
            <a:r>
              <a:rPr lang="en-GB" dirty="0"/>
              <a:t>, </a:t>
            </a:r>
            <a:r>
              <a:rPr lang="en-GB" dirty="0" err="1"/>
              <a:t>fiable</a:t>
            </a:r>
            <a:r>
              <a:rPr lang="en-GB" dirty="0"/>
              <a:t>, </a:t>
            </a:r>
            <a:r>
              <a:rPr lang="en-GB" dirty="0" err="1"/>
              <a:t>personnalisable</a:t>
            </a:r>
            <a:r>
              <a:rPr lang="en-GB" dirty="0"/>
              <a:t> et compatible avec les </a:t>
            </a:r>
            <a:r>
              <a:rPr lang="en-GB" dirty="0" err="1"/>
              <a:t>contraintes</a:t>
            </a:r>
            <a:r>
              <a:rPr lang="en-GB" dirty="0"/>
              <a:t> des applications mobiles </a:t>
            </a:r>
            <a:r>
              <a:rPr lang="en-GB" dirty="0" err="1"/>
              <a:t>modernes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Pour </a:t>
            </a:r>
            <a:r>
              <a:rPr lang="en-GB" dirty="0" err="1"/>
              <a:t>conclure</a:t>
            </a:r>
            <a:r>
              <a:rPr lang="en-GB" dirty="0"/>
              <a:t>, le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LiveAround</a:t>
            </a:r>
            <a:r>
              <a:rPr lang="en-GB" dirty="0"/>
              <a:t> est pertinent car il </a:t>
            </a:r>
            <a:r>
              <a:rPr lang="en-GB" dirty="0" err="1"/>
              <a:t>répond</a:t>
            </a:r>
            <a:r>
              <a:rPr lang="en-GB" dirty="0"/>
              <a:t> à un </a:t>
            </a:r>
            <a:r>
              <a:rPr lang="en-GB" dirty="0" err="1"/>
              <a:t>besoin</a:t>
            </a:r>
            <a:r>
              <a:rPr lang="en-GB" dirty="0"/>
              <a:t> </a:t>
            </a:r>
            <a:r>
              <a:rPr lang="en-GB" dirty="0" err="1"/>
              <a:t>concret</a:t>
            </a:r>
            <a:r>
              <a:rPr lang="en-GB" dirty="0"/>
              <a:t> : </a:t>
            </a:r>
            <a:r>
              <a:rPr lang="en-GB" dirty="0" err="1"/>
              <a:t>faciliter</a:t>
            </a:r>
            <a:r>
              <a:rPr lang="en-GB" dirty="0"/>
              <a:t> la </a:t>
            </a:r>
            <a:r>
              <a:rPr lang="en-GB" dirty="0" err="1"/>
              <a:t>découverte</a:t>
            </a:r>
            <a:r>
              <a:rPr lang="en-GB" dirty="0"/>
              <a:t> de concerts </a:t>
            </a:r>
            <a:r>
              <a:rPr lang="en-GB" dirty="0" err="1"/>
              <a:t>autour</a:t>
            </a:r>
            <a:r>
              <a:rPr lang="en-GB" dirty="0"/>
              <a:t> de soi, </a:t>
            </a:r>
            <a:r>
              <a:rPr lang="en-GB" dirty="0" err="1"/>
              <a:t>partout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France.</a:t>
            </a:r>
          </a:p>
          <a:p>
            <a:r>
              <a:rPr lang="en-GB" dirty="0"/>
              <a:t>Le choix </a:t>
            </a:r>
            <a:r>
              <a:rPr lang="en-GB" dirty="0" err="1"/>
              <a:t>d’une</a:t>
            </a:r>
            <a:r>
              <a:rPr lang="en-GB" dirty="0"/>
              <a:t> application </a:t>
            </a:r>
            <a:r>
              <a:rPr lang="en-GB" dirty="0" err="1"/>
              <a:t>nationale</a:t>
            </a:r>
            <a:r>
              <a:rPr lang="en-GB" dirty="0"/>
              <a:t> est important, car la </a:t>
            </a:r>
            <a:r>
              <a:rPr lang="en-GB" dirty="0" err="1"/>
              <a:t>proximité</a:t>
            </a:r>
            <a:r>
              <a:rPr lang="en-GB" dirty="0"/>
              <a:t> ne correspond pas </a:t>
            </a:r>
            <a:r>
              <a:rPr lang="en-GB" dirty="0" err="1"/>
              <a:t>toujours</a:t>
            </a:r>
            <a:r>
              <a:rPr lang="en-GB" dirty="0"/>
              <a:t> aux </a:t>
            </a:r>
            <a:r>
              <a:rPr lang="en-GB" dirty="0" err="1"/>
              <a:t>limites</a:t>
            </a:r>
            <a:r>
              <a:rPr lang="en-GB" dirty="0"/>
              <a:t> </a:t>
            </a:r>
            <a:r>
              <a:rPr lang="en-GB" dirty="0" err="1"/>
              <a:t>administratives</a:t>
            </a:r>
            <a:r>
              <a:rPr lang="en-GB" dirty="0"/>
              <a:t>. Un </a:t>
            </a:r>
            <a:r>
              <a:rPr lang="en-GB" dirty="0" err="1"/>
              <a:t>utilisateur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habiter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bordure de département, voyager,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chercher</a:t>
            </a:r>
            <a:r>
              <a:rPr lang="en-GB" dirty="0"/>
              <a:t> des </a:t>
            </a:r>
            <a:r>
              <a:rPr lang="en-GB" dirty="0" err="1"/>
              <a:t>événements</a:t>
            </a:r>
            <a:r>
              <a:rPr lang="en-GB" dirty="0"/>
              <a:t> dans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autre</a:t>
            </a:r>
            <a:r>
              <a:rPr lang="en-GB" dirty="0"/>
              <a:t> </a:t>
            </a:r>
            <a:r>
              <a:rPr lang="en-GB" dirty="0" err="1"/>
              <a:t>région</a:t>
            </a:r>
            <a:r>
              <a:rPr lang="en-GB" dirty="0"/>
              <a:t>.</a:t>
            </a:r>
          </a:p>
          <a:p>
            <a:r>
              <a:rPr lang="en-GB" dirty="0"/>
              <a:t>Le succès du </a:t>
            </a:r>
            <a:r>
              <a:rPr lang="en-GB" dirty="0" err="1"/>
              <a:t>projet</a:t>
            </a:r>
            <a:r>
              <a:rPr lang="en-GB" dirty="0"/>
              <a:t> repose sur trois conditions.</a:t>
            </a:r>
          </a:p>
          <a:p>
            <a:r>
              <a:rPr lang="en-GB" dirty="0"/>
              <a:t>La première est la </a:t>
            </a:r>
            <a:r>
              <a:rPr lang="en-GB" dirty="0" err="1"/>
              <a:t>qualité</a:t>
            </a:r>
            <a:r>
              <a:rPr lang="en-GB" dirty="0"/>
              <a:t> des données. Sans données </a:t>
            </a:r>
            <a:r>
              <a:rPr lang="en-GB" dirty="0" err="1"/>
              <a:t>fiables</a:t>
            </a:r>
            <a:r>
              <a:rPr lang="en-GB" dirty="0"/>
              <a:t>,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perd</a:t>
            </a:r>
            <a:r>
              <a:rPr lang="en-GB" dirty="0"/>
              <a:t> </a:t>
            </a:r>
            <a:r>
              <a:rPr lang="en-GB" dirty="0" err="1"/>
              <a:t>rapidement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crédibilité</a:t>
            </a:r>
            <a:r>
              <a:rPr lang="en-GB" dirty="0"/>
              <a:t>.</a:t>
            </a:r>
          </a:p>
          <a:p>
            <a:r>
              <a:rPr lang="en-GB" dirty="0"/>
              <a:t>La deuxième est la </a:t>
            </a:r>
            <a:r>
              <a:rPr lang="en-GB" dirty="0" err="1"/>
              <a:t>simplicité</a:t>
            </a:r>
            <a:r>
              <a:rPr lang="en-GB" dirty="0"/>
              <a:t> de </a:t>
            </a:r>
            <a:r>
              <a:rPr lang="en-GB" dirty="0" err="1"/>
              <a:t>l’expérience</a:t>
            </a:r>
            <a:r>
              <a:rPr lang="en-GB" dirty="0"/>
              <a:t> mobile. </a:t>
            </a:r>
            <a:r>
              <a:rPr lang="en-GB" dirty="0" err="1"/>
              <a:t>L’utilisateur</a:t>
            </a:r>
            <a:r>
              <a:rPr lang="en-GB" dirty="0"/>
              <a:t> doit </a:t>
            </a:r>
            <a:r>
              <a:rPr lang="en-GB" dirty="0" err="1"/>
              <a:t>trouver</a:t>
            </a:r>
            <a:r>
              <a:rPr lang="en-GB" dirty="0"/>
              <a:t> un concert </a:t>
            </a:r>
            <a:r>
              <a:rPr lang="en-GB" dirty="0" err="1"/>
              <a:t>rapidement</a:t>
            </a:r>
            <a:r>
              <a:rPr lang="en-GB" dirty="0"/>
              <a:t>, sans </a:t>
            </a:r>
            <a:r>
              <a:rPr lang="en-GB" dirty="0" err="1"/>
              <a:t>parcours</a:t>
            </a:r>
            <a:r>
              <a:rPr lang="en-GB" dirty="0"/>
              <a:t> </a:t>
            </a:r>
            <a:r>
              <a:rPr lang="en-GB" dirty="0" err="1"/>
              <a:t>complexe</a:t>
            </a:r>
            <a:r>
              <a:rPr lang="en-GB" dirty="0"/>
              <a:t>.</a:t>
            </a:r>
          </a:p>
          <a:p>
            <a:r>
              <a:rPr lang="en-GB" dirty="0"/>
              <a:t>La </a:t>
            </a:r>
            <a:r>
              <a:rPr lang="en-GB" dirty="0" err="1"/>
              <a:t>troisième</a:t>
            </a:r>
            <a:r>
              <a:rPr lang="en-GB" dirty="0"/>
              <a:t> est la </a:t>
            </a:r>
            <a:r>
              <a:rPr lang="en-GB" dirty="0" err="1"/>
              <a:t>gouvernance</a:t>
            </a:r>
            <a:r>
              <a:rPr lang="en-GB" dirty="0"/>
              <a:t> RGPD, </a:t>
            </a:r>
            <a:r>
              <a:rPr lang="en-GB" dirty="0" err="1"/>
              <a:t>en</a:t>
            </a:r>
            <a:r>
              <a:rPr lang="en-GB" dirty="0"/>
              <a:t> particulier sur la </a:t>
            </a:r>
            <a:r>
              <a:rPr lang="en-GB" dirty="0" err="1"/>
              <a:t>géolocalisation</a:t>
            </a:r>
            <a:r>
              <a:rPr lang="en-GB" dirty="0"/>
              <a:t> et les notifications.</a:t>
            </a:r>
          </a:p>
          <a:p>
            <a:r>
              <a:rPr lang="en-GB" dirty="0"/>
              <a:t>La solution </a:t>
            </a:r>
            <a:r>
              <a:rPr lang="en-GB" dirty="0" err="1"/>
              <a:t>recommandée</a:t>
            </a:r>
            <a:r>
              <a:rPr lang="en-GB" dirty="0"/>
              <a:t> repose sur un MVP </a:t>
            </a:r>
            <a:r>
              <a:rPr lang="en-GB" dirty="0" err="1"/>
              <a:t>réaliste</a:t>
            </a:r>
            <a:r>
              <a:rPr lang="en-GB" dirty="0"/>
              <a:t>, </a:t>
            </a:r>
            <a:r>
              <a:rPr lang="en-GB" dirty="0" err="1"/>
              <a:t>une</a:t>
            </a:r>
            <a:r>
              <a:rPr lang="en-GB" dirty="0"/>
              <a:t> architecture scalable avec Flutter, </a:t>
            </a:r>
            <a:r>
              <a:rPr lang="en-GB" dirty="0" err="1"/>
              <a:t>NestJS</a:t>
            </a:r>
            <a:r>
              <a:rPr lang="en-GB" dirty="0"/>
              <a:t>, PostgreSQL/</a:t>
            </a:r>
            <a:r>
              <a:rPr lang="en-GB" dirty="0" err="1"/>
              <a:t>PostGIS</a:t>
            </a:r>
            <a:r>
              <a:rPr lang="en-GB" dirty="0"/>
              <a:t> et Firebase Cloud Messaging, </a:t>
            </a:r>
            <a:r>
              <a:rPr lang="en-GB" dirty="0" err="1"/>
              <a:t>ainsi</a:t>
            </a:r>
            <a:r>
              <a:rPr lang="en-GB" dirty="0"/>
              <a:t> </a:t>
            </a:r>
            <a:r>
              <a:rPr lang="en-GB" dirty="0" err="1"/>
              <a:t>qu’un</a:t>
            </a:r>
            <a:r>
              <a:rPr lang="en-GB" dirty="0"/>
              <a:t> budget </a:t>
            </a:r>
            <a:r>
              <a:rPr lang="en-GB" dirty="0" err="1"/>
              <a:t>prévisionnel</a:t>
            </a:r>
            <a:r>
              <a:rPr lang="en-GB" dirty="0"/>
              <a:t> </a:t>
            </a:r>
            <a:r>
              <a:rPr lang="en-GB" dirty="0" err="1"/>
              <a:t>d’environ</a:t>
            </a:r>
            <a:r>
              <a:rPr lang="en-GB" dirty="0"/>
              <a:t> 100 000 euros.</a:t>
            </a:r>
          </a:p>
          <a:p>
            <a:r>
              <a:rPr lang="en-GB" dirty="0"/>
              <a:t>En résumé, </a:t>
            </a:r>
            <a:r>
              <a:rPr lang="en-GB" dirty="0" err="1"/>
              <a:t>LiveAround</a:t>
            </a:r>
            <a:r>
              <a:rPr lang="en-GB" dirty="0"/>
              <a:t> est un </a:t>
            </a:r>
            <a:r>
              <a:rPr lang="en-GB" dirty="0" err="1"/>
              <a:t>projet</a:t>
            </a:r>
            <a:r>
              <a:rPr lang="en-GB" dirty="0"/>
              <a:t> </a:t>
            </a:r>
            <a:r>
              <a:rPr lang="en-GB" dirty="0" err="1"/>
              <a:t>techniquement</a:t>
            </a:r>
            <a:r>
              <a:rPr lang="en-GB" dirty="0"/>
              <a:t> </a:t>
            </a:r>
            <a:r>
              <a:rPr lang="en-GB" dirty="0" err="1"/>
              <a:t>réalisable</a:t>
            </a:r>
            <a:r>
              <a:rPr lang="en-GB" dirty="0"/>
              <a:t>, </a:t>
            </a:r>
            <a:r>
              <a:rPr lang="en-GB" dirty="0" err="1"/>
              <a:t>économiquement</a:t>
            </a:r>
            <a:r>
              <a:rPr lang="en-GB" dirty="0"/>
              <a:t> exploitable et pertinent pour </a:t>
            </a:r>
            <a:r>
              <a:rPr lang="en-GB" dirty="0" err="1"/>
              <a:t>répondre</a:t>
            </a:r>
            <a:r>
              <a:rPr lang="en-GB" dirty="0"/>
              <a:t> aux nouveaux usages de </a:t>
            </a:r>
            <a:r>
              <a:rPr lang="en-GB" dirty="0" err="1"/>
              <a:t>découverte</a:t>
            </a:r>
            <a:r>
              <a:rPr lang="en-GB" dirty="0"/>
              <a:t> </a:t>
            </a:r>
            <a:r>
              <a:rPr lang="en-GB" dirty="0" err="1"/>
              <a:t>culturelle</a:t>
            </a:r>
            <a:r>
              <a:rPr lang="en-GB" dirty="0"/>
              <a:t> mobile.</a:t>
            </a:r>
          </a:p>
          <a:p>
            <a:r>
              <a:rPr lang="en-GB" dirty="0"/>
              <a:t>Merci pour </a:t>
            </a:r>
            <a:r>
              <a:rPr lang="en-GB" dirty="0" err="1"/>
              <a:t>votre</a:t>
            </a:r>
            <a:r>
              <a:rPr lang="en-GB" dirty="0"/>
              <a:t>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5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200000">
            <a:off x="8046720" y="-914400"/>
            <a:ext cx="4937760" cy="4937760"/>
          </a:xfrm>
          <a:prstGeom prst="arc">
            <a:avLst/>
          </a:prstGeom>
          <a:solidFill>
            <a:srgbClr val="4B2E83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12600000">
            <a:off x="8778240" y="3383280"/>
            <a:ext cx="3383280" cy="3383280"/>
          </a:xfrm>
          <a:prstGeom prst="arc">
            <a:avLst/>
          </a:prstGeom>
          <a:solidFill>
            <a:srgbClr val="FF6B4A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658368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201C2A"/>
          </a:solidFill>
          <a:ln w="12700">
            <a:solidFill>
              <a:srgbClr val="FFB00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95528" y="731520"/>
            <a:ext cx="5175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B000"/>
                </a:solidFill>
              </a:rPr>
              <a:t>Client fictif : PulseEvent SAS — startup culturelle lyonnaise à ambition nationale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LiveAround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13232" y="21945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0FA"/>
                </a:solidFill>
              </a:rPr>
              <a:t>Cadrage complet d’une application mobile nationale de découverte de concerts à proximité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Niveau Master 2 — développement logiciel mobile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Présentation orale : 20 minutes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89720" y="10515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0" dirty="0">
                <a:solidFill>
                  <a:srgbClr val="000000"/>
                </a:solidFill>
              </a:rPr>
              <a:t>🎵</a:t>
            </a:r>
            <a:endParaRPr lang="en-US" sz="6500" dirty="0"/>
          </a:p>
        </p:txBody>
      </p:sp>
      <p:sp>
        <p:nvSpPr>
          <p:cNvPr id="12" name="Text 10"/>
          <p:cNvSpPr/>
          <p:nvPr/>
        </p:nvSpPr>
        <p:spPr>
          <a:xfrm>
            <a:off x="10195560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📍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1. Contexte et problématique client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Une startup lyonnaise veut rendre les concerts visibles partout en France.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</a:rPr>
              <a:t>CLIENT FICTIF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151F"/>
                </a:solidFill>
              </a:rPr>
              <a:t>PulseEvent SAS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7151F"/>
                </a:solidFill>
              </a:rPr>
              <a:t>Startup culturelle basée à Lyon</a:t>
            </a:r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Mission : rendre l’offre musicale locale plus accessible</a:t>
            </a:r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Vision : service national, géolocalisé et personnalisable</a:t>
            </a:r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Cible : utilisateurs, salles, organisateurs et billetteries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6812280" cy="4434840"/>
          </a:xfrm>
          <a:prstGeom prst="roundRect">
            <a:avLst>
              <a:gd name="adj" fmla="val 2474"/>
            </a:avLst>
          </a:prstGeom>
          <a:solidFill>
            <a:srgbClr val="ECE7F9"/>
          </a:solidFill>
          <a:ln w="10160">
            <a:solidFill>
              <a:srgbClr val="4B2E8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2E83"/>
                </a:solidFill>
              </a:rPr>
              <a:t>PROBLÉMATIQUE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59893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151F"/>
                </a:solidFill>
              </a:rPr>
              <a:t>Comment concevoir une application mobile fiable, nationale et personnalisée pour informer les utilisateurs des concerts proches d’eux, tout en maîtrisant la qualité des données, la géolocalisation et la viabilité économique 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3639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Couverture nationale plutôt que seulement locale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40690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Recherche par proximité réelle, pas seulement par département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44805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Données issues d’API, partenariats et enrichissement interne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74920" y="4873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48920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Conformité mobile et RGPD dès la conception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2. Analyse de la demande : besoin exprimé → besoin réel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Le projet n’est pas une simple liste d’événements, mais une plateforme de recommandation locale.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DDD7C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51F"/>
                </a:solidFill>
              </a:rPr>
              <a:t>Demande exprimée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Voir les concerts proches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035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Filtrer par date / genre / distance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Recevoir des alertes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3525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Accéder à la billetterie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417320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FFF1D6"/>
          </a:solidFill>
          <a:ln w="10160">
            <a:solidFill>
              <a:srgbClr val="FFB0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72000" y="1719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51F"/>
                </a:solidFill>
              </a:rPr>
              <a:t>Besoin réel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Centraliser les données concerts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035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Qualifier la donnée événementielle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Personnaliser l’expérience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3525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Gérer le national + proximité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01000" y="1417320"/>
            <a:ext cx="3246120" cy="4389120"/>
          </a:xfrm>
          <a:prstGeom prst="roundRect">
            <a:avLst>
              <a:gd name="adj" fmla="val 3380"/>
            </a:avLst>
          </a:prstGeom>
          <a:solidFill>
            <a:srgbClr val="DDF7EC"/>
          </a:solidFill>
          <a:ln w="1016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229600" y="17190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51F"/>
                </a:solidFill>
              </a:rPr>
              <a:t>Enjeux majeurs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104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Adoption utilisateur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49640" y="3035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Fiabilité des sources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0" y="36758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4964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Conformité RGPD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43525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Modèle économique durable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05072" y="3611880"/>
            <a:ext cx="256032" cy="0"/>
          </a:xfrm>
          <a:prstGeom prst="line">
            <a:avLst/>
          </a:prstGeom>
          <a:noFill/>
          <a:ln w="2540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662672" y="3611880"/>
            <a:ext cx="256032" cy="0"/>
          </a:xfrm>
          <a:prstGeom prst="line">
            <a:avLst/>
          </a:prstGeom>
          <a:noFill/>
          <a:ln w="2540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2">
            <a:extLst>
              <a:ext uri="{FF2B5EF4-FFF2-40B4-BE49-F238E27FC236}">
                <a16:creationId xmlns:a16="http://schemas.microsoft.com/office/drawing/2014/main" id="{F43BF86F-DA58-83A5-4A0E-4F040161BF66}"/>
              </a:ext>
            </a:extLst>
          </p:cNvPr>
          <p:cNvSpPr/>
          <p:nvPr/>
        </p:nvSpPr>
        <p:spPr>
          <a:xfrm flipH="1">
            <a:off x="2404872" y="3646170"/>
            <a:ext cx="3107359" cy="482346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2BD026D2-BFC3-1A36-D18C-36F4F1D1515D}"/>
              </a:ext>
            </a:extLst>
          </p:cNvPr>
          <p:cNvSpPr/>
          <p:nvPr/>
        </p:nvSpPr>
        <p:spPr>
          <a:xfrm flipH="1" flipV="1">
            <a:off x="2496311" y="2043684"/>
            <a:ext cx="3168319" cy="1754886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236C41AB-3C82-072E-CB30-278390A28CBC}"/>
              </a:ext>
            </a:extLst>
          </p:cNvPr>
          <p:cNvSpPr/>
          <p:nvPr/>
        </p:nvSpPr>
        <p:spPr>
          <a:xfrm flipH="1" flipV="1">
            <a:off x="4782310" y="1872234"/>
            <a:ext cx="1034719" cy="2078736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3. Cartographie des parties prenantes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Identifier les acteurs, leurs intérêts et les zones de tension.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96712" y="3579876"/>
            <a:ext cx="0" cy="0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96712" y="3579876"/>
            <a:ext cx="0" cy="0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flipV="1">
            <a:off x="5696712" y="2500884"/>
            <a:ext cx="3749040" cy="1078992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 flipV="1">
            <a:off x="5696712" y="1860804"/>
            <a:ext cx="1737360" cy="1719072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696712" y="3579876"/>
            <a:ext cx="3886200" cy="1417320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696712" y="3579876"/>
            <a:ext cx="1143000" cy="1783080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 flipH="1">
            <a:off x="4663440" y="3579876"/>
            <a:ext cx="1033272" cy="1572768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696712" y="3579876"/>
            <a:ext cx="0" cy="777240"/>
          </a:xfrm>
          <a:prstGeom prst="line">
            <a:avLst/>
          </a:prstGeom>
          <a:noFill/>
          <a:ln w="1524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45152" y="2665476"/>
            <a:ext cx="2103120" cy="1828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73752" y="31135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LiveAround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MVP national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138531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60704" y="145846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Utilisateurs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finaux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9312" y="120243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1D6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712464" y="12755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PulseEvent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SAS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34072" y="120243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ECE7F9"/>
          </a:solidFill>
          <a:ln w="1905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507224" y="127558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Équipe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projet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45752" y="184251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DDEB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518904" y="191566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Billetteries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partenaires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71432" y="476859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244584" y="484174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Salles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organisateurs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11112" y="513435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E4E8"/>
          </a:solidFill>
          <a:ln w="190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684264" y="520750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DPO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RGPD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27832" y="513435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DDEB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300984" y="520750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Cloud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API externes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" y="412851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A6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69264" y="4201668"/>
            <a:ext cx="1362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Support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ops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4. Objectifs et enjeux par partie prenante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Le succès dépend de la convergence entre valeur utilisateur, données fiables et modèle économique.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05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315059"/>
              </p:ext>
            </p:extLst>
          </p:nvPr>
        </p:nvGraphicFramePr>
        <p:xfrm>
          <a:off x="594360" y="1417320"/>
          <a:ext cx="10972800" cy="4087368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Acteur</a:t>
                      </a:r>
                      <a:endParaRPr lang="en-US" sz="9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Objectifs</a:t>
                      </a:r>
                      <a:endParaRPr lang="en-US" sz="9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Enjeux</a:t>
                      </a:r>
                      <a:endParaRPr lang="en-US" sz="9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PulseEvent SAS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Traction nationale, image de marque, monétisation progressive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ROI, différenciation, dépendance API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Utilisateurs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Découvrir vite des concerts pertinents, même hors département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Simplicité, confiance, vie privée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Salles / organisateurs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Remplir les événements et toucher un public qualifié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Visibilité, exactitude des informations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Billetteries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Recevoir du trafic qualifié et mesurable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Affiliation, tracking, conversion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Équipe projet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Livrer un MVP maintenable dans le budget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Qualité, délais, dette technique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DPO / sécurité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Garantir consentement, minimisation et sécurité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Risques RGPD, notifications, géolocalisation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85800" y="153619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Acteur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0" y="15361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Objectifs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06640" y="15361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Enjeux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5. Cartographie des opportunités et menaces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Vision stratégique : marché national, données événementielles et contraintes réglementaires.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DDF7EC"/>
          </a:solidFill>
          <a:ln w="1016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FE4E8"/>
          </a:solidFill>
          <a:ln w="10160">
            <a:solidFill>
              <a:srgbClr val="E11D4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Opportunités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</a:rPr>
              <a:t>Menaces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Usage national + mobilité des publics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Partenariats locaux avec salles et festivals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502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Affiliation billetterie et mise en avant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4096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Notifications personnalisées pertinentes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690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709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Données enrichies par préférences musicales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3317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Dépendance à des API externes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Qualité variable des données concerts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3502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352044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Concurrence d’acteurs installés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4096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41148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Contraintes RGPD sur géolocalisation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4690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709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Coûts d’acquisition utilisateur élevés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597858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51F"/>
                </a:solidFill>
              </a:rPr>
              <a:t>Positionnement recommandé : “proximité nationale” — recherche autour d’une position, pas seulement dans une ville ou un département.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6. Démarche d’audit et diagnostic de l’existant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Objectif : sécuriser les hypothèses avant de décider de la solution.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645920" cy="566928"/>
          </a:xfrm>
          <a:prstGeom prst="chevron">
            <a:avLst/>
          </a:prstGeom>
          <a:solidFill>
            <a:srgbClr val="FFF1D6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6751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Demande client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645920" cy="566928"/>
          </a:xfrm>
          <a:prstGeom prst="chevron">
            <a:avLst/>
          </a:prstGeom>
          <a:solidFill>
            <a:srgbClr val="ECE7F9"/>
          </a:solidFill>
          <a:ln w="1270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4203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Utilisateurs cibles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1645920" cy="566928"/>
          </a:xfrm>
          <a:prstGeom prst="chevron">
            <a:avLst/>
          </a:prstGeom>
          <a:solidFill>
            <a:srgbClr val="FFF1D6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41655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Benchmark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1645920" cy="566928"/>
          </a:xfrm>
          <a:prstGeom prst="chevron">
            <a:avLst/>
          </a:prstGeom>
          <a:solidFill>
            <a:srgbClr val="ECE7F9"/>
          </a:solidFill>
          <a:ln w="1270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9107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Contraintes RGPD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1645920" cy="566928"/>
          </a:xfrm>
          <a:prstGeom prst="chevron">
            <a:avLst/>
          </a:prstGeom>
          <a:solidFill>
            <a:srgbClr val="FFF1D6"/>
          </a:solidFill>
          <a:ln w="1270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16559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Audit technique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966960" y="1417320"/>
            <a:ext cx="1645920" cy="566928"/>
          </a:xfrm>
          <a:prstGeom prst="chevron">
            <a:avLst/>
          </a:prstGeom>
          <a:solidFill>
            <a:srgbClr val="ECE7F9"/>
          </a:solidFill>
          <a:ln w="1270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40112" y="1600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7151F"/>
                </a:solidFill>
              </a:rPr>
              <a:t>Risques &amp; budget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31520" y="2468880"/>
            <a:ext cx="49377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60120" y="27432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2E83"/>
                </a:solidFill>
              </a:rPr>
              <a:t>DÉMARCHE D’AUDIT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43891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 err="1">
                <a:solidFill>
                  <a:srgbClr val="17151F"/>
                </a:solidFill>
              </a:rPr>
              <a:t>Entretiens</a:t>
            </a:r>
            <a:r>
              <a:rPr lang="en-US" sz="1200" dirty="0">
                <a:solidFill>
                  <a:srgbClr val="17151F"/>
                </a:solidFill>
              </a:rPr>
              <a:t> client fictif et formalisation des besoins</a:t>
            </a:r>
            <a:endParaRPr lang="en-US" sz="1200" dirty="0"/>
          </a:p>
          <a:p>
            <a:endParaRPr lang="en-US" sz="1200" dirty="0">
              <a:solidFill>
                <a:srgbClr val="17151F"/>
              </a:solidFill>
            </a:endParaRPr>
          </a:p>
          <a:p>
            <a:r>
              <a:rPr lang="en-US" sz="1200" dirty="0">
                <a:solidFill>
                  <a:srgbClr val="17151F"/>
                </a:solidFill>
              </a:rPr>
              <a:t>Benchmark fonctionnel des acteurs concerts</a:t>
            </a:r>
            <a:endParaRPr lang="en-US" sz="1200" dirty="0"/>
          </a:p>
          <a:p>
            <a:endParaRPr lang="en-US" sz="1200" dirty="0">
              <a:solidFill>
                <a:srgbClr val="17151F"/>
              </a:solidFill>
            </a:endParaRPr>
          </a:p>
          <a:p>
            <a:r>
              <a:rPr lang="en-US" sz="1200" dirty="0">
                <a:solidFill>
                  <a:srgbClr val="17151F"/>
                </a:solidFill>
              </a:rPr>
              <a:t>Étude des API et contraintes contractuelles</a:t>
            </a:r>
            <a:endParaRPr lang="en-US" sz="1200" dirty="0"/>
          </a:p>
          <a:p>
            <a:endParaRPr lang="en-US" sz="1200" dirty="0">
              <a:solidFill>
                <a:srgbClr val="17151F"/>
              </a:solidFill>
            </a:endParaRPr>
          </a:p>
          <a:p>
            <a:r>
              <a:rPr lang="en-US" sz="1200" dirty="0" err="1">
                <a:solidFill>
                  <a:srgbClr val="17151F"/>
                </a:solidFill>
              </a:rPr>
              <a:t>Analyse</a:t>
            </a:r>
            <a:r>
              <a:rPr lang="en-US" sz="1200" dirty="0">
                <a:solidFill>
                  <a:srgbClr val="17151F"/>
                </a:solidFill>
              </a:rPr>
              <a:t> sécurité, RGPD, consentement et conservation</a:t>
            </a:r>
            <a:endParaRPr lang="en-US" sz="1200" dirty="0"/>
          </a:p>
          <a:p>
            <a:endParaRPr lang="en-US" sz="1200" dirty="0">
              <a:solidFill>
                <a:srgbClr val="17151F"/>
              </a:solidFill>
            </a:endParaRPr>
          </a:p>
          <a:p>
            <a:r>
              <a:rPr lang="en-US" sz="1200" dirty="0" err="1">
                <a:solidFill>
                  <a:srgbClr val="17151F"/>
                </a:solidFill>
              </a:rPr>
              <a:t>Chiffrage</a:t>
            </a:r>
            <a:r>
              <a:rPr lang="en-US" sz="1200" dirty="0">
                <a:solidFill>
                  <a:srgbClr val="17151F"/>
                </a:solidFill>
              </a:rPr>
              <a:t> macro + cartographie des risques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246888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</a:rPr>
              <a:t>DIAGNOSTIC DE L’EXISTANT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307238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Mobile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8686800" y="3072384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Inexistant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6400800" y="3419856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Backend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8686800" y="3419856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Inexistant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400800" y="3767328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Données concerts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8686800" y="376732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Non centralisées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SI / Cloud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8686800" y="4114800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Non choisi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6400800" y="446227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RGPD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8686800" y="4462272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À cadrer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6400800" y="480974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151F"/>
                </a:solidFill>
              </a:rPr>
              <a:t>Site vitrine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8686800" y="4809744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A6775"/>
                </a:solidFill>
              </a:rPr>
              <a:t>Présent mais faible valeur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6355080" y="535838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2E83"/>
                </a:solidFill>
              </a:rPr>
              <a:t>Conclusion audit : construction from scratch, mais architecture maîtrisable dès le MVP.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7. Cartographie des risques techniques et fonctionnels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Une matrice probabilité × impact pour prioriser les actions.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4270248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627632" y="4270248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340864" y="4270248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054096" y="4270248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767328" y="4270248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14400" y="3557016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627632" y="3557016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340864" y="3557016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054096" y="3557016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767328" y="3557016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14400" y="2843784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27632" y="2843784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340864" y="2843784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054096" y="2843784"/>
            <a:ext cx="713232" cy="713232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767328" y="2843784"/>
            <a:ext cx="713232" cy="713232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14400" y="2130552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627632" y="2130552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340864" y="2130552"/>
            <a:ext cx="713232" cy="713232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054096" y="2130552"/>
            <a:ext cx="713232" cy="713232"/>
          </a:xfrm>
          <a:prstGeom prst="rect">
            <a:avLst/>
          </a:prstGeom>
          <a:solidFill>
            <a:srgbClr val="FFE4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767328" y="2130552"/>
            <a:ext cx="713232" cy="713232"/>
          </a:xfrm>
          <a:prstGeom prst="rect">
            <a:avLst/>
          </a:prstGeom>
          <a:solidFill>
            <a:srgbClr val="FFE4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914400" y="1417320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627632" y="1417320"/>
            <a:ext cx="713232" cy="713232"/>
          </a:xfrm>
          <a:prstGeom prst="rect">
            <a:avLst/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340864" y="1417320"/>
            <a:ext cx="713232" cy="713232"/>
          </a:xfrm>
          <a:prstGeom prst="rect">
            <a:avLst/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054096" y="1417320"/>
            <a:ext cx="713232" cy="713232"/>
          </a:xfrm>
          <a:prstGeom prst="rect">
            <a:avLst/>
          </a:prstGeom>
          <a:solidFill>
            <a:srgbClr val="FFE4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767328" y="1417320"/>
            <a:ext cx="713232" cy="713232"/>
          </a:xfrm>
          <a:prstGeom prst="rect">
            <a:avLst/>
          </a:prstGeom>
          <a:solidFill>
            <a:srgbClr val="FFE4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011680" y="5166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6775"/>
                </a:solidFill>
              </a:rPr>
              <a:t>Impact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 rot="16200000">
            <a:off x="333756" y="2615184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6775"/>
                </a:solidFill>
              </a:rPr>
              <a:t>Probabilité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2990088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12724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API</a:t>
            </a:r>
            <a:endParaRPr lang="en-US" sz="580" dirty="0"/>
          </a:p>
        </p:txBody>
      </p:sp>
      <p:sp>
        <p:nvSpPr>
          <p:cNvPr id="37" name="Shape 35"/>
          <p:cNvSpPr/>
          <p:nvPr/>
        </p:nvSpPr>
        <p:spPr>
          <a:xfrm>
            <a:off x="3200400" y="2276856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127248" y="24048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Données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3913632" y="2990088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840480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RGPD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2487168" y="2276856"/>
            <a:ext cx="420624" cy="420624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414016" y="2404872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Notif.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420624" cy="420624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3127248" y="3831336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Crash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3200400" y="2990088"/>
            <a:ext cx="420624" cy="420624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312724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Budget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3913632" y="2990088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3840480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Adoption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3200400" y="2990088"/>
            <a:ext cx="420624" cy="420624"/>
          </a:xfrm>
          <a:prstGeom prst="ellipse">
            <a:avLst/>
          </a:prstGeom>
          <a:solidFill>
            <a:srgbClr val="FFB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3127248" y="3118104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Perf.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5486400" y="1417320"/>
            <a:ext cx="58521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576072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11D48"/>
                </a:solidFill>
              </a:rPr>
              <a:t>RISQUES PRIORITAIRES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06440" y="21488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151F"/>
                </a:solidFill>
              </a:rPr>
              <a:t>Données concerts incorrectes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8275320" y="2148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Plan : source officielle, modération, signalement.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5806440" y="28803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151F"/>
                </a:solidFill>
              </a:rPr>
              <a:t>Géolocalisation / RGPD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827532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Plan : consentement clair, ville manuelle, minimisation.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5806440" y="36118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151F"/>
                </a:solidFill>
              </a:rPr>
              <a:t>Faible adoption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8275320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Plan : UX, notifications utiles, partenariats.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5806440" y="4343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151F"/>
                </a:solidFill>
              </a:rPr>
              <a:t>Dépendance API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8275320" y="4343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Plan : cache, normalisation et stratégie multi-sources.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8. Référentiel risques, incidents et indicateurs de contrôle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Le pilotage doit être mesurable, pas uniquement déclaratif.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383280" cy="46177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2E83"/>
                </a:solidFill>
              </a:rPr>
              <a:t>RÉFÉRENTIEL RISQUES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51F"/>
                </a:solidFill>
              </a:rPr>
              <a:t>Criticité = Probabilité × Impact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2651760" cy="402336"/>
          </a:xfrm>
          <a:prstGeom prst="roundRect">
            <a:avLst>
              <a:gd name="adj" fmla="val 9091"/>
            </a:avLst>
          </a:prstGeom>
          <a:solidFill>
            <a:srgbClr val="DDF7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7151F"/>
                </a:solidFill>
              </a:rPr>
              <a:t>1–5 — Faible : surveiller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14400" y="3081528"/>
            <a:ext cx="2651760" cy="402336"/>
          </a:xfrm>
          <a:prstGeom prst="roundRect">
            <a:avLst>
              <a:gd name="adj" fmla="val 9091"/>
            </a:avLst>
          </a:prstGeom>
          <a:solidFill>
            <a:srgbClr val="FFF1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51560" y="3218688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7151F"/>
                </a:solidFill>
              </a:rPr>
              <a:t>6–10 — Moyen : prévenir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3648456"/>
            <a:ext cx="2651760" cy="402336"/>
          </a:xfrm>
          <a:prstGeom prst="roundRect">
            <a:avLst>
              <a:gd name="adj" fmla="val 9091"/>
            </a:avLst>
          </a:prstGeom>
          <a:solidFill>
            <a:srgbClr val="FFE4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51560" y="3785616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7151F"/>
                </a:solidFill>
              </a:rPr>
              <a:t>11–15 — Élevé : suivre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14400" y="4215384"/>
            <a:ext cx="2651760" cy="402336"/>
          </a:xfrm>
          <a:prstGeom prst="roundRect">
            <a:avLst>
              <a:gd name="adj" fmla="val 9091"/>
            </a:avLst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51560" y="4352544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</a:rPr>
              <a:t>16–25 — Critique : traiter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389120" y="1325880"/>
            <a:ext cx="3474720" cy="4617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63440" y="1627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</a:rPr>
              <a:t>SUIVI INCIDENTS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057400"/>
            <a:ext cx="283464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040" dirty="0" err="1">
                <a:solidFill>
                  <a:srgbClr val="17151F"/>
                </a:solidFill>
              </a:rPr>
              <a:t>Identifiant</a:t>
            </a:r>
            <a:r>
              <a:rPr lang="en-US" sz="1040" dirty="0">
                <a:solidFill>
                  <a:srgbClr val="17151F"/>
                </a:solidFill>
              </a:rPr>
              <a:t> incident</a:t>
            </a:r>
          </a:p>
          <a:p>
            <a:endParaRPr lang="en-US" sz="1040" dirty="0"/>
          </a:p>
          <a:p>
            <a:r>
              <a:rPr lang="en-US" sz="1040" dirty="0">
                <a:solidFill>
                  <a:srgbClr val="17151F"/>
                </a:solidFill>
              </a:rPr>
              <a:t>Date, version, module </a:t>
            </a:r>
            <a:r>
              <a:rPr lang="en-US" sz="1040" dirty="0" err="1">
                <a:solidFill>
                  <a:srgbClr val="17151F"/>
                </a:solidFill>
              </a:rPr>
              <a:t>concerné</a:t>
            </a:r>
            <a:endParaRPr lang="en-US" sz="1040" dirty="0">
              <a:solidFill>
                <a:srgbClr val="17151F"/>
              </a:solidFill>
            </a:endParaRPr>
          </a:p>
          <a:p>
            <a:endParaRPr lang="en-US" sz="1040" dirty="0"/>
          </a:p>
          <a:p>
            <a:r>
              <a:rPr lang="en-US" sz="1040" dirty="0">
                <a:solidFill>
                  <a:srgbClr val="17151F"/>
                </a:solidFill>
              </a:rPr>
              <a:t>Gravité et impact </a:t>
            </a:r>
            <a:r>
              <a:rPr lang="en-US" sz="1040" dirty="0" err="1">
                <a:solidFill>
                  <a:srgbClr val="17151F"/>
                </a:solidFill>
              </a:rPr>
              <a:t>utilisateur</a:t>
            </a:r>
            <a:endParaRPr lang="en-US" sz="1040" dirty="0">
              <a:solidFill>
                <a:srgbClr val="17151F"/>
              </a:solidFill>
            </a:endParaRPr>
          </a:p>
          <a:p>
            <a:endParaRPr lang="en-US" sz="1040" dirty="0"/>
          </a:p>
          <a:p>
            <a:r>
              <a:rPr lang="en-US" sz="1040" dirty="0">
                <a:solidFill>
                  <a:srgbClr val="17151F"/>
                </a:solidFill>
              </a:rPr>
              <a:t>Responsable et </a:t>
            </a:r>
            <a:r>
              <a:rPr lang="en-US" sz="1040" dirty="0" err="1">
                <a:solidFill>
                  <a:srgbClr val="17151F"/>
                </a:solidFill>
              </a:rPr>
              <a:t>statut</a:t>
            </a:r>
            <a:endParaRPr lang="en-US" sz="1040" dirty="0">
              <a:solidFill>
                <a:srgbClr val="17151F"/>
              </a:solidFill>
            </a:endParaRPr>
          </a:p>
          <a:p>
            <a:endParaRPr lang="en-US" sz="1040" dirty="0"/>
          </a:p>
          <a:p>
            <a:r>
              <a:rPr lang="en-US" sz="1040" dirty="0">
                <a:solidFill>
                  <a:srgbClr val="17151F"/>
                </a:solidFill>
              </a:rPr>
              <a:t>Cause racine / correctif / prévention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663440" y="5166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4B2E83"/>
                </a:solidFill>
              </a:rPr>
              <a:t>Outil recommandé : Jira Service Management ou GitHub Issues + labels de criticité.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0" y="1325880"/>
            <a:ext cx="3246120" cy="46177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503920" y="16276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</a:rPr>
              <a:t>INDICATEURS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49640" y="2039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2057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API &lt; 300 ms p95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49640" y="2496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2514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Crash-free users &gt; 99 %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49640" y="29535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78240" y="29718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Taux erreur API &lt; 1 %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49640" y="34107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3429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Incidents critiques = 0 ouvert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49640" y="38679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38862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Taux opt-in notif. &gt; 35 %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49640" y="43251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4343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Clic billetterie / visite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9. Méthodologie de recherche et veille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Sources publiques, documentation officielle et benchmark produit.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2E83"/>
                </a:solidFill>
              </a:rPr>
              <a:t>MÉTHODE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43891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17151F"/>
                </a:solidFill>
              </a:rPr>
              <a:t>Recherche documentaire : API, RGPD, frameworks mobiles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Benchmark : Bandsintown, Ticketmaster, Songkick, Dice, Shotgun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Analyse technique : mobile, backend, données, notifications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Analyse réglementaire : permissions, géolocalisation, </a:t>
            </a:r>
            <a:r>
              <a:rPr lang="en-US" sz="1200" dirty="0" err="1">
                <a:solidFill>
                  <a:srgbClr val="17151F"/>
                </a:solidFill>
              </a:rPr>
              <a:t>consentement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7151F"/>
                </a:solidFill>
              </a:rPr>
              <a:t>Analyse projet : charge, coûts, risques, indicateurs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DDEBFF"/>
          </a:solidFill>
          <a:ln w="10160">
            <a:solidFill>
              <a:srgbClr val="2563E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VEILLE ET OUTILS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37960" y="214884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20840" y="226771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CNIL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720840" y="245059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réglementaire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869680" y="214884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052560" y="226771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Docs API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9052560" y="245059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technique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2953512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720840" y="30723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App stores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720840" y="325526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benchmark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869680" y="2953512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052560" y="30723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GitHub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9052560" y="325526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librairies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37960" y="3758184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720840" y="38770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Feedly / Alerts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672084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tendances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869680" y="3758184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052560" y="387705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151F"/>
                </a:solidFill>
              </a:rPr>
              <a:t>Sentry / Matomo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905256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exploitation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4892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151F"/>
                </a:solidFill>
              </a:rPr>
              <a:t>Sources clés : Ticketmaster Discovery API, CNIL recommandations applications mobiles, Flutter, NestJS, PostGIS, Firebase Cloud Messaging.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10. Étude comparative des solutions techniques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Choix guidés par maintenabilité, scalabilité, coût et délai de livraison.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6575"/>
              </p:ext>
            </p:extLst>
          </p:nvPr>
        </p:nvGraphicFramePr>
        <p:xfrm>
          <a:off x="502920" y="1325880"/>
          <a:ext cx="11201400" cy="37490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17151F"/>
                          </a:solidFill>
                        </a:rPr>
                        <a:t>Domaine</a:t>
                      </a:r>
                      <a:endParaRPr lang="en-US" sz="81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17151F"/>
                          </a:solidFill>
                        </a:rPr>
                        <a:t>Option A</a:t>
                      </a:r>
                      <a:endParaRPr lang="en-US" sz="81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17151F"/>
                          </a:solidFill>
                        </a:rPr>
                        <a:t>Option B</a:t>
                      </a:r>
                      <a:endParaRPr lang="en-US" sz="81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17151F"/>
                          </a:solidFill>
                        </a:rPr>
                        <a:t>Option C</a:t>
                      </a:r>
                      <a:endParaRPr lang="en-US" sz="81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0" dirty="0">
                          <a:solidFill>
                            <a:srgbClr val="17151F"/>
                          </a:solidFill>
                        </a:rPr>
                        <a:t>Préconisation</a:t>
                      </a:r>
                      <a:endParaRPr lang="en-US" sz="81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Mobile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Flutter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React Native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Natif Kotlin/Swift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Flutter : un code Android/iOS, UI performante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NestJS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FastAPI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Firebase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NestJS : architecture TypeScript modulaire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Données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PostgreSQL + PostGIS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MongoDB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Firestore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PostGIS : requêtes géospatiales robustes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Notifications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FCM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OneSignal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APNs/FCM natif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FCM : standard cross-platform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Cartographie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Mapbox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Google Maps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OpenStreetMap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Mapbox/OSM selon coûts et licence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Concerts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API + partenariats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Saisie pro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Scraping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7151F"/>
                          </a:solidFill>
                        </a:rPr>
                        <a:t>API + cache + enrichissement interne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1325880"/>
            <a:ext cx="11201400" cy="347472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94360" y="14356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Domaine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28800" y="14356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Option A</a:t>
            </a:r>
            <a:endParaRPr lang="en-US" sz="820" dirty="0"/>
          </a:p>
        </p:txBody>
      </p:sp>
      <p:sp>
        <p:nvSpPr>
          <p:cNvPr id="8" name="Text 9"/>
          <p:cNvSpPr/>
          <p:nvPr/>
        </p:nvSpPr>
        <p:spPr>
          <a:xfrm>
            <a:off x="3474720" y="14356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Option B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5120640" y="14356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Option C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766560" y="1435608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</a:rPr>
              <a:t>Préconisation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731520" y="592531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2E83"/>
                </a:solidFill>
              </a:rPr>
              <a:t>Architecture recommandée : Flutter + NestJS + PostgreSQL/PostGIS + FCM + couche d’agrégation d’événements.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11. Architecture logicielle proposée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Séparation claire : mobile, API métier, données, services externes.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3108960"/>
            <a:ext cx="1005840" cy="0"/>
          </a:xfrm>
          <a:prstGeom prst="line">
            <a:avLst/>
          </a:prstGeom>
          <a:noFill/>
          <a:ln w="1778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212080" y="3108960"/>
            <a:ext cx="1097280" cy="0"/>
          </a:xfrm>
          <a:prstGeom prst="line">
            <a:avLst/>
          </a:prstGeom>
          <a:noFill/>
          <a:ln w="1778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046720" y="3108960"/>
            <a:ext cx="1097280" cy="0"/>
          </a:xfrm>
          <a:prstGeom prst="line">
            <a:avLst/>
          </a:prstGeom>
          <a:noFill/>
          <a:ln w="1778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675120" y="2148840"/>
            <a:ext cx="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675120" y="4069080"/>
            <a:ext cx="0" cy="685800"/>
          </a:xfrm>
          <a:prstGeom prst="line">
            <a:avLst/>
          </a:prstGeom>
          <a:noFill/>
          <a:ln w="17780">
            <a:solidFill>
              <a:srgbClr val="FFB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85800" y="24231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ECE7F9"/>
          </a:solidFill>
          <a:ln w="1905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58952" y="2496312"/>
            <a:ext cx="177393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Application mobile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Flutter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Android / 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233172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FFF1D6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76472" y="2404872"/>
            <a:ext cx="14081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API Backend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NestJS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REST + JWT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28232" y="2404872"/>
            <a:ext cx="15910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Base données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+ PostGIS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0" y="23317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DDEB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217152" y="2404872"/>
            <a:ext cx="19110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Services externes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API concerts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Billetteries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Cartographie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15000" y="8686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788152" y="941832"/>
            <a:ext cx="1773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FCM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Notifications push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4800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6A67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696712" y="4873752"/>
            <a:ext cx="19568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Monitoring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Logs + incidents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589788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51F"/>
                </a:solidFill>
              </a:rPr>
              <a:t>Patron recommandé : backend-for-mobile + agrégateur de données + cache local des événements.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12. Flux clés : recherche proximité et notification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Deux scénarios structurants pour l’expérience utilisateur.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2E83"/>
                </a:solidFill>
              </a:rPr>
              <a:t>RECHERCHE DE CONCERTS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51560" y="205740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ECE7F9"/>
          </a:solidFill>
          <a:ln w="19050">
            <a:solidFill>
              <a:srgbClr val="4B2E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24712" y="2130552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Position GPS ou ville manuelle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468880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051560" y="2715768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24712" y="2788920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Rayon de recherche paramétré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3127248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51560" y="3374136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24712" y="3447288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Requête PostGIS par distance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785616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51560" y="4032504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124712" y="4105656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Complément API externe si cache insuffisant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4443984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51560" y="4690872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DDF7E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124712" y="4764024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Affichage + filtres + billetterie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32588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DD7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</a:rPr>
              <a:t>NOTIFICATION PERSONNALISÉE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2057400"/>
            <a:ext cx="4343400" cy="411480"/>
          </a:xfrm>
          <a:prstGeom prst="roundRect">
            <a:avLst>
              <a:gd name="adj" fmla="val 17778"/>
            </a:avLst>
          </a:prstGeom>
          <a:solidFill>
            <a:srgbClr val="FFF1D6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748272" y="2130552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Import nouveaux événements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869680" y="2468880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675120" y="2715768"/>
            <a:ext cx="4343400" cy="411480"/>
          </a:xfrm>
          <a:prstGeom prst="roundRect">
            <a:avLst>
              <a:gd name="adj" fmla="val 17778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748272" y="2788920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Matching préférences + distance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69680" y="3127248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675120" y="3374136"/>
            <a:ext cx="4343400" cy="411480"/>
          </a:xfrm>
          <a:prstGeom prst="roundRect">
            <a:avLst>
              <a:gd name="adj" fmla="val 17778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748272" y="3447288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Contrôle fréquence / anti-spam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869680" y="3785616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675120" y="4032504"/>
            <a:ext cx="4343400" cy="411480"/>
          </a:xfrm>
          <a:prstGeom prst="roundRect">
            <a:avLst>
              <a:gd name="adj" fmla="val 17778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748272" y="4105656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Envoi FCM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869680" y="4443984"/>
            <a:ext cx="0" cy="210312"/>
          </a:xfrm>
          <a:prstGeom prst="line">
            <a:avLst/>
          </a:prstGeom>
          <a:noFill/>
          <a:ln w="13970">
            <a:solidFill>
              <a:srgbClr val="DDD7CD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675120" y="4690872"/>
            <a:ext cx="4343400" cy="411480"/>
          </a:xfrm>
          <a:prstGeom prst="roundRect">
            <a:avLst>
              <a:gd name="adj" fmla="val 17778"/>
            </a:avLst>
          </a:prstGeom>
          <a:solidFill>
            <a:srgbClr val="FFF1D6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748272" y="4764024"/>
            <a:ext cx="4197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151F"/>
                </a:solidFill>
              </a:rPr>
              <a:t>Historisation et mesure du clic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13. Cahier des charges fonctionnel — périmètre MVP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Priorisation MoSCoW pour éviter un MVP trop ambitieux.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DDF7EC"/>
          </a:solidFill>
          <a:ln w="10160">
            <a:solidFill>
              <a:srgbClr val="10B98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5895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Must have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Compte utilisateur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Géolocalisation ou ville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300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Liste concerts proches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813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Filtres date / genre / distance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3616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Fiche concert + billetterie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0" y="141732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FFF1D6"/>
          </a:solidFill>
          <a:ln w="10160">
            <a:solidFill>
              <a:srgbClr val="FFB00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3931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000"/>
                </a:solidFill>
              </a:rPr>
              <a:t>Should have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03320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Favoris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Alertes personnalisées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0332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3300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Préférences musicales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03320" y="3813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00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Signalement donnée incorrecte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141732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DDEBFF"/>
          </a:solidFill>
          <a:ln w="10160">
            <a:solidFill>
              <a:srgbClr val="2563E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51967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Could have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Carte interactive avancée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8368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Partage social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3300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Agenda personnel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83680" y="3813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Recommandations IA simples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35440" y="1417320"/>
            <a:ext cx="2560320" cy="4434840"/>
          </a:xfrm>
          <a:prstGeom prst="roundRect">
            <a:avLst>
              <a:gd name="adj" fmla="val 4286"/>
            </a:avLst>
          </a:prstGeom>
          <a:solidFill>
            <a:srgbClr val="FFE4E8"/>
          </a:solidFill>
          <a:ln w="10160">
            <a:solidFill>
              <a:srgbClr val="E11D4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400032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1D48"/>
                </a:solidFill>
              </a:rPr>
              <a:t>Won’t have MVP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64040" y="22219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0" y="2240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Achat billet in-app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464040" y="2752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92640" y="2770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Back-office complet organisateur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46404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92640" y="3300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Messagerie communautaire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64040" y="3813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9264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151F"/>
                </a:solidFill>
              </a:rPr>
              <a:t>Marketplace sponsors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14. Estimation de la charge de travail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Charge prévisionnelle MVP : environ 195 jours-homme.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3990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Cadrage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874520" y="1389888"/>
            <a:ext cx="1544320" cy="146304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006840" y="13898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10 j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7647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UX/UI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874520" y="1755648"/>
            <a:ext cx="2316480" cy="146304"/>
          </a:xfrm>
          <a:prstGeom prst="rect">
            <a:avLst/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006840" y="17556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15 j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213055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Arch.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874520" y="2121408"/>
            <a:ext cx="1235456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006840" y="212140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8 j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800" y="24963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Backend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874520" y="2487168"/>
            <a:ext cx="6177280" cy="146304"/>
          </a:xfrm>
          <a:prstGeom prst="rect">
            <a:avLst/>
          </a:prstGeom>
          <a:solidFill>
            <a:srgbClr val="FF6B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006840" y="248716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40 j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28620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Mobile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874520" y="2852928"/>
            <a:ext cx="694944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006840" y="285292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45 j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5800" y="32278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API data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874520" y="3218688"/>
            <a:ext cx="1853184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006840" y="32186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12 j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5800" y="35935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Notif.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874520" y="3584448"/>
            <a:ext cx="1235456" cy="146304"/>
          </a:xfrm>
          <a:prstGeom prst="rect">
            <a:avLst/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006840" y="35844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8 j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5800" y="395935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Back-office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874520" y="3950208"/>
            <a:ext cx="1853184" cy="146304"/>
          </a:xfrm>
          <a:prstGeom prst="rect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006840" y="395020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12 j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" y="43251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Tests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1874520" y="4315968"/>
            <a:ext cx="2316480" cy="146304"/>
          </a:xfrm>
          <a:prstGeom prst="rect">
            <a:avLst/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006840" y="431596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15 j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5800" y="46908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Déploiement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874520" y="4681728"/>
            <a:ext cx="77216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006840" y="468172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5 j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5800" y="50566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Docs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874520" y="5047488"/>
            <a:ext cx="772160" cy="146304"/>
          </a:xfrm>
          <a:prstGeom prst="rect">
            <a:avLst/>
          </a:prstGeom>
          <a:solidFill>
            <a:srgbClr val="6A67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9006840" y="504748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5 j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5800" y="5422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7151F"/>
                </a:solidFill>
              </a:rPr>
              <a:t>Pilotage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874520" y="5413248"/>
            <a:ext cx="3088640" cy="146304"/>
          </a:xfrm>
          <a:prstGeom prst="rect">
            <a:avLst/>
          </a:prstGeom>
          <a:solidFill>
            <a:srgbClr val="FF6B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9006840" y="541324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6775"/>
                </a:solidFill>
              </a:rPr>
              <a:t>20 j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829800" y="141732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ECE7F9"/>
          </a:solidFill>
          <a:ln w="10160">
            <a:solidFill>
              <a:srgbClr val="4B2E8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0104120" y="1965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B2E83"/>
                </a:solidFill>
              </a:rPr>
              <a:t>195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10040112" y="26060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151F"/>
                </a:solidFill>
              </a:rPr>
              <a:t>jours-homme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151F"/>
                </a:solidFill>
              </a:rPr>
              <a:t>MVP complet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12680" y="3429000"/>
            <a:ext cx="1234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A6775"/>
                </a:solidFill>
              </a:rPr>
              <a:t>Organisation recommandée : méthode agile en 5 sprints de 2 semaines + stabilisation + stores.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15. Estimation des coûts et budget prévisionnel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Hypothèse : réalisation professionnelle par une petite équipe projet.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151F"/>
                </a:solidFill>
              </a:rPr>
              <a:t>Développement MVP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1508760"/>
            <a:ext cx="5303520" cy="256032"/>
          </a:xfrm>
          <a:prstGeom prst="roundRect">
            <a:avLst>
              <a:gd name="adj" fmla="val 7143"/>
            </a:avLst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372600" y="15270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775"/>
                </a:solidFill>
              </a:rPr>
              <a:t>81 000 €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151F"/>
                </a:solidFill>
              </a:rPr>
              <a:t>Infrastructure première année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2194560"/>
            <a:ext cx="163689" cy="256032"/>
          </a:xfrm>
          <a:prstGeom prst="roundRect">
            <a:avLst>
              <a:gd name="adj" fmla="val 11172"/>
            </a:avLst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372600" y="22128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775"/>
                </a:solidFill>
              </a:rPr>
              <a:t>2 500 €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151F"/>
                </a:solidFill>
              </a:rPr>
              <a:t>Outils &amp; comptes stores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2880360"/>
            <a:ext cx="65476" cy="256032"/>
          </a:xfrm>
          <a:prstGeom prst="roundRect">
            <a:avLst>
              <a:gd name="adj" fmla="val 27931"/>
            </a:avLst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372600" y="28986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775"/>
                </a:solidFill>
              </a:rPr>
              <a:t>1 000 €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151F"/>
                </a:solidFill>
              </a:rPr>
              <a:t>Sécurité / conformité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3566160"/>
            <a:ext cx="196427" cy="256032"/>
          </a:xfrm>
          <a:prstGeom prst="roundRect">
            <a:avLst>
              <a:gd name="adj" fmla="val 9310"/>
            </a:avLst>
          </a:prstGeom>
          <a:solidFill>
            <a:srgbClr val="E11D4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372600" y="35844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775"/>
                </a:solidFill>
              </a:rPr>
              <a:t>3 000 €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2976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151F"/>
                </a:solidFill>
              </a:rPr>
              <a:t>Marge de risque 15 %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4251960"/>
            <a:ext cx="859367" cy="256032"/>
          </a:xfrm>
          <a:prstGeom prst="roundRect">
            <a:avLst>
              <a:gd name="adj" fmla="val 7143"/>
            </a:avLst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372600" y="42702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775"/>
                </a:solidFill>
              </a:rPr>
              <a:t>13 125 €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461772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17151F"/>
          </a:solidFill>
          <a:ln w="10160">
            <a:solidFill>
              <a:srgbClr val="1715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366760" y="48280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Budget prévisionnel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0" y="51023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000"/>
                </a:solidFill>
              </a:rPr>
              <a:t>≈ 100 000 €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2960" y="515212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151F"/>
                </a:solidFill>
              </a:rPr>
              <a:t>Le budget devra être révisé après validation des contrats API, billetterie et cartographie.</a:t>
            </a:r>
            <a:endParaRPr lang="en-US" sz="11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760DE7-E399-C343-5EFE-3A594D60AA91}"/>
              </a:ext>
            </a:extLst>
          </p:cNvPr>
          <p:cNvSpPr/>
          <p:nvPr/>
        </p:nvSpPr>
        <p:spPr>
          <a:xfrm>
            <a:off x="634904" y="4992624"/>
            <a:ext cx="6411152" cy="6217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829800" y="-320040"/>
            <a:ext cx="3108960" cy="3108960"/>
          </a:xfrm>
          <a:prstGeom prst="arc">
            <a:avLst/>
          </a:prstGeom>
          <a:solidFill>
            <a:srgbClr val="ECE7F9">
              <a:alpha val="95000"/>
            </a:srgbClr>
          </a:solidFill>
          <a:ln w="12700">
            <a:solidFill>
              <a:srgbClr val="ECE7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3200000">
            <a:off x="-640080" y="5120640"/>
            <a:ext cx="2743200" cy="2743200"/>
          </a:xfrm>
          <a:prstGeom prst="arc">
            <a:avLst/>
          </a:prstGeom>
          <a:solidFill>
            <a:srgbClr val="FFF1D6">
              <a:alpha val="95000"/>
            </a:srgbClr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151F"/>
                </a:solidFill>
              </a:rPr>
              <a:t>16. Préconisations et réponse à la problématique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6775"/>
                </a:solidFill>
              </a:rPr>
              <a:t>Axes de solution pour maximiser la valeur et réduire les risques.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6775"/>
                </a:solidFill>
              </a:rPr>
              <a:t>LiveAround — cadrage projet M2 développement logiciel mobile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38428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6775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1D6"/>
          </a:solidFill>
          <a:ln w="1016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96112" y="1618488"/>
            <a:ext cx="411480" cy="41148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14984" y="1728216"/>
            <a:ext cx="173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17320" y="1618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51F"/>
                </a:solidFill>
              </a:rPr>
              <a:t>MVP centré valeur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Recherche proche, filtres, favoris, notifications, billetterie.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CE7F9"/>
          </a:solidFill>
          <a:ln w="10160">
            <a:solidFill>
              <a:srgbClr val="4B2E8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53712" y="1618488"/>
            <a:ext cx="411480" cy="41148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72584" y="1728216"/>
            <a:ext cx="173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74920" y="1618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51F"/>
                </a:solidFill>
              </a:rPr>
              <a:t>Architecture évolutive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Mobile séparé du backend, agrégateur de données, API REST.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1D6"/>
          </a:solidFill>
          <a:ln w="1016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211312" y="1618488"/>
            <a:ext cx="411480" cy="41148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330184" y="1728216"/>
            <a:ext cx="173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732520" y="16184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51F"/>
                </a:solidFill>
              </a:rPr>
              <a:t>Données multi-sources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Cache, normalisation, partenariats salles, signalement.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651760" y="379476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ECE7F9"/>
          </a:solidFill>
          <a:ln w="10160">
            <a:solidFill>
              <a:srgbClr val="4B2E8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816352" y="3995928"/>
            <a:ext cx="411480" cy="41148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935224" y="4105656"/>
            <a:ext cx="173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37560" y="3995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51F"/>
                </a:solidFill>
              </a:rPr>
              <a:t>Privacy by 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4361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Consentement GPS, ville manuelle, suppression compte, minimisation.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583680" y="379476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1D6"/>
          </a:solidFill>
          <a:ln w="1016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748272" y="3995928"/>
            <a:ext cx="411480" cy="411480"/>
          </a:xfrm>
          <a:prstGeom prst="ellipse">
            <a:avLst/>
          </a:prstGeom>
          <a:solidFill>
            <a:srgbClr val="FFB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67144" y="4105656"/>
            <a:ext cx="173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69480" y="39959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151F"/>
                </a:solidFill>
              </a:rPr>
              <a:t>Monétisation progressive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3616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6A6775"/>
                </a:solidFill>
              </a:rPr>
              <a:t>Affiliation, mise en avant encadrée, offres organisateurs.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2E83"/>
                </a:solidFill>
              </a:rPr>
              <a:t>Réponse client : LiveAround transforme la recherche de concerts en service national de proximité, fiable, personnalisable et compatible avec les contraintes de données mobiles.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5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B000"/>
                </a:solidFill>
              </a:rPr>
              <a:t>Le projet est pertinent sous trois conditions : qualité des données, expérience mobile simple et gouvernance RGPD robuste.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404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Application nationale, pensée par proximité réelle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2843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62072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MVP réaliste : valeur utilisateur avant fonctionnalités avancées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282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00984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Architecture scalable : Flutter + NestJS + PostgreSQL/PostGIS + FCM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89329" y="3739896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Budget de cadrage : environ 100 000 € pour un MVP professionnel</a:t>
            </a:r>
          </a:p>
        </p:txBody>
      </p:sp>
      <p:sp>
        <p:nvSpPr>
          <p:cNvPr id="13" name="Shape 11"/>
          <p:cNvSpPr/>
          <p:nvPr/>
        </p:nvSpPr>
        <p:spPr>
          <a:xfrm>
            <a:off x="7955280" y="777240"/>
            <a:ext cx="3429000" cy="4983480"/>
          </a:xfrm>
          <a:prstGeom prst="roundRect">
            <a:avLst>
              <a:gd name="adj" fmla="val 3200"/>
            </a:avLst>
          </a:prstGeom>
          <a:solidFill>
            <a:srgbClr val="2A2438"/>
          </a:solidFill>
          <a:ln w="10160">
            <a:solidFill>
              <a:srgbClr val="2A24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7532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Sources consultées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1508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Ticketmaster Discovery API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27532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CNIL — recommandations applications mobiles 2024/2025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275320" y="2295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Flutter documentation officielle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275320" y="26883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NestJS documentation officielle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8275320" y="3081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PostGIS documentation officielle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27532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Firebase Cloud Messaging documentation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275320" y="3867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DE9FE"/>
                </a:solidFill>
              </a:rPr>
              <a:t>• Benchmark : Bandsintown, Songkick, Dice, Shotgun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31520" y="5715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Merci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5208</Words>
  <Application>Microsoft Office PowerPoint</Application>
  <PresentationFormat>Widescreen</PresentationFormat>
  <Paragraphs>626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PulseEvent SAS (client fictif)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LiveAround — Cadrage projet M2</dc:title>
  <dc:subject>Cadrage projet application mobile LiveAround</dc:subject>
  <dc:creator>OpenAI</dc:creator>
  <cp:lastModifiedBy>Vincent ALTMANN</cp:lastModifiedBy>
  <cp:revision>4</cp:revision>
  <dcterms:created xsi:type="dcterms:W3CDTF">2026-06-12T10:29:55Z</dcterms:created>
  <dcterms:modified xsi:type="dcterms:W3CDTF">2026-06-13T16:30:00Z</dcterms:modified>
</cp:coreProperties>
</file>